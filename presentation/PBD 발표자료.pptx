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12192000" cy="68580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-1536" y="-84"/>
      </p:cViewPr>
      <p:guideLst>
        <p:guide pos="2880" orient="horz"/>
        <p:guide pos="2160"/>
      </p:guideLst>
    </p:cSldViewPr>
  </p:slide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702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37355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863919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1989169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726086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250641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3604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236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664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5274AC-40DE-C779-EC0C-4BBDABFE75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927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81137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438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CF3378-E0CC-73A1-D001-7FB831F70F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730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0928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64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328583-C42D-B18D-856C-B503E2488C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1616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8027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039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225FF2-E6E8-5632-AA56-6294E91DC9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117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058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282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A6D0AF-207C-FBC7-6289-923093D111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618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3824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13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C29F18-4674-52A3-E794-211696BDA4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657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508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141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BC26E8-3683-AD43-2FFC-EDDFE625E7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045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4075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5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5D475B-626C-E536-C686-965EBDEA7A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806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110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869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194F6-DCD1-9C56-003B-2F1B97012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94331" name="Holder 2"/>
          <p:cNvSpPr>
            <a:spLocks noGrp="1"/>
          </p:cNvSpPr>
          <p:nvPr>
            <p:ph type="ctrTitle"/>
          </p:nvPr>
        </p:nvSpPr>
        <p:spPr bwMode="auto"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F242F"/>
                </a:solidFill>
                <a:latin typeface="Malgun Gothic"/>
                <a:cs typeface="Malgun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8125223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1F242F"/>
                </a:solidFill>
                <a:latin typeface="Malgun Gothic"/>
                <a:cs typeface="Malgun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62990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192224578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2200565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#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960535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300" b="1" i="0">
                <a:solidFill>
                  <a:srgbClr val="1F242F"/>
                </a:solidFill>
                <a:latin typeface="Malgun Gothic"/>
                <a:cs typeface="Malgun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379856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300" b="0" i="0">
                <a:solidFill>
                  <a:srgbClr val="1F242F"/>
                </a:solidFill>
                <a:latin typeface="Malgun Gothic"/>
                <a:cs typeface="Malgun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49477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212447512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282704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#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604779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300" b="1" i="0">
                <a:solidFill>
                  <a:srgbClr val="1F242F"/>
                </a:solidFill>
                <a:latin typeface="Malgun Gothic"/>
                <a:cs typeface="Malgun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2472675" name="Holder 3"/>
          <p:cNvSpPr>
            <a:spLocks noGrp="1"/>
          </p:cNvSpPr>
          <p:nvPr>
            <p:ph sz="half" idx="2"/>
          </p:nvPr>
        </p:nvSpPr>
        <p:spPr bwMode="auto"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89013571" name="Holder 4"/>
          <p:cNvSpPr>
            <a:spLocks noGrp="1"/>
          </p:cNvSpPr>
          <p:nvPr>
            <p:ph sz="half" idx="3"/>
          </p:nvPr>
        </p:nvSpPr>
        <p:spPr bwMode="auto"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1537462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207117779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99362230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#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18364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300" b="1" i="0">
                <a:solidFill>
                  <a:srgbClr val="1F242F"/>
                </a:solidFill>
                <a:latin typeface="Malgun Gothic"/>
                <a:cs typeface="Malgun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45722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142977155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67380677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#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7503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18966355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18028342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#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22648" name="bg object 16"/>
          <p:cNvSpPr/>
          <p:nvPr/>
        </p:nvSpPr>
        <p:spPr bwMode="auto">
          <a:xfrm>
            <a:off x="781049" y="457197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 fill="norm" stroke="1" extrusionOk="0">
                <a:moveTo>
                  <a:pt x="761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76199" y="0"/>
                </a:lnTo>
                <a:lnTo>
                  <a:pt x="76199" y="3809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30177924" name="Holder 2"/>
          <p:cNvSpPr>
            <a:spLocks noGrp="1"/>
          </p:cNvSpPr>
          <p:nvPr>
            <p:ph type="title"/>
          </p:nvPr>
        </p:nvSpPr>
        <p:spPr bwMode="auto">
          <a:xfrm>
            <a:off x="1005135" y="466788"/>
            <a:ext cx="4881245" cy="375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F242F"/>
                </a:solidFill>
                <a:latin typeface="Malgun Gothic"/>
                <a:cs typeface="Malgun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346174" name="Holder 3"/>
          <p:cNvSpPr>
            <a:spLocks noGrp="1"/>
          </p:cNvSpPr>
          <p:nvPr>
            <p:ph type="body" idx="1"/>
          </p:nvPr>
        </p:nvSpPr>
        <p:spPr bwMode="auto">
          <a:xfrm>
            <a:off x="764480" y="1125213"/>
            <a:ext cx="7771765" cy="2254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1F242F"/>
                </a:solidFill>
                <a:latin typeface="Malgun Gothic"/>
                <a:cs typeface="Malgun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619518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764480" y="6499243"/>
            <a:ext cx="1244600" cy="169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205331853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77621815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11138742" y="6499243"/>
            <a:ext cx="288290" cy="169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B6BECD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#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gif"/><Relationship Id="rId6" Type="http://schemas.openxmlformats.org/officeDocument/2006/relationships/image" Target="../media/image4.gif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90528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764480" y="2184431"/>
            <a:ext cx="51746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5464" algn="l"/>
                <a:tab pos="3183890" algn="l"/>
              </a:tabLst>
              <a:defRPr/>
            </a:pPr>
            <a:r>
              <a:rPr sz="3400" spc="-10"/>
              <a:t>Position</a:t>
            </a:r>
            <a:r>
              <a:rPr sz="3400"/>
              <a:t>	</a:t>
            </a:r>
            <a:r>
              <a:rPr sz="3400" spc="-20"/>
              <a:t>Based</a:t>
            </a:r>
            <a:r>
              <a:rPr sz="3400"/>
              <a:t>	</a:t>
            </a:r>
            <a:r>
              <a:rPr sz="3400" spc="-10"/>
              <a:t>Dynamics</a:t>
            </a:r>
            <a:endParaRPr sz="3400"/>
          </a:p>
        </p:txBody>
      </p:sp>
      <p:sp>
        <p:nvSpPr>
          <p:cNvPr id="791014423" name="object 3"/>
          <p:cNvSpPr txBox="1"/>
          <p:nvPr/>
        </p:nvSpPr>
        <p:spPr bwMode="auto">
          <a:xfrm>
            <a:off x="764480" y="2959100"/>
            <a:ext cx="6447790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500">
                <a:solidFill>
                  <a:srgbClr val="2562EB"/>
                </a:solidFill>
                <a:latin typeface="Malgun Gothic"/>
                <a:cs typeface="Malgun Gothic"/>
              </a:rPr>
              <a:t>위치</a:t>
            </a:r>
            <a:r>
              <a:rPr sz="1500" spc="-10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500">
                <a:solidFill>
                  <a:srgbClr val="2562EB"/>
                </a:solidFill>
                <a:latin typeface="Malgun Gothic"/>
                <a:cs typeface="Malgun Gothic"/>
              </a:rPr>
              <a:t>기반</a:t>
            </a:r>
            <a:r>
              <a:rPr sz="1500" spc="-10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500">
                <a:solidFill>
                  <a:srgbClr val="2562EB"/>
                </a:solidFill>
                <a:latin typeface="Malgun Gothic"/>
                <a:cs typeface="Malgun Gothic"/>
              </a:rPr>
              <a:t>동역학과</a:t>
            </a:r>
            <a:r>
              <a:rPr sz="1500" spc="-5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500">
                <a:solidFill>
                  <a:srgbClr val="2562EB"/>
                </a:solidFill>
                <a:latin typeface="Malgun Gothic"/>
                <a:cs typeface="Malgun Gothic"/>
              </a:rPr>
              <a:t>XPBD</a:t>
            </a:r>
            <a:r>
              <a:rPr sz="1500" spc="-10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500">
                <a:solidFill>
                  <a:srgbClr val="2562EB"/>
                </a:solidFill>
                <a:latin typeface="Malgun Gothic"/>
                <a:cs typeface="Malgun Gothic"/>
              </a:rPr>
              <a:t>—</a:t>
            </a:r>
            <a:r>
              <a:rPr sz="1500" spc="-5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500">
                <a:solidFill>
                  <a:srgbClr val="2562EB"/>
                </a:solidFill>
                <a:latin typeface="Malgun Gothic"/>
                <a:cs typeface="Malgun Gothic"/>
              </a:rPr>
              <a:t>실시간</a:t>
            </a:r>
            <a:r>
              <a:rPr sz="1500" spc="-10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500">
                <a:solidFill>
                  <a:srgbClr val="2562EB"/>
                </a:solidFill>
                <a:latin typeface="Malgun Gothic"/>
                <a:cs typeface="Malgun Gothic"/>
              </a:rPr>
              <a:t>천(Cloth)</a:t>
            </a:r>
            <a:r>
              <a:rPr sz="1500" spc="-5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500">
                <a:solidFill>
                  <a:srgbClr val="2562EB"/>
                </a:solidFill>
                <a:latin typeface="Malgun Gothic"/>
                <a:cs typeface="Malgun Gothic"/>
              </a:rPr>
              <a:t>시뮬레이션</a:t>
            </a:r>
            <a:r>
              <a:rPr sz="1500" spc="-10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500" spc="-25">
                <a:solidFill>
                  <a:srgbClr val="2562EB"/>
                </a:solidFill>
                <a:latin typeface="Malgun Gothic"/>
                <a:cs typeface="Malgun Gothic"/>
              </a:rPr>
              <a:t>구현기</a:t>
            </a:r>
            <a:endParaRPr sz="15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05"/>
              </a:spcBef>
              <a:defRPr/>
            </a:pPr>
            <a:endParaRPr sz="15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defRPr/>
            </a:pP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Müller</a:t>
            </a:r>
            <a:r>
              <a:rPr sz="115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et</a:t>
            </a:r>
            <a:r>
              <a:rPr sz="115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al.,</a:t>
            </a:r>
            <a:r>
              <a:rPr sz="115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"Position</a:t>
            </a:r>
            <a:r>
              <a:rPr sz="1150" i="1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Based</a:t>
            </a:r>
            <a:r>
              <a:rPr sz="1150" i="1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Dynamics"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,</a:t>
            </a:r>
            <a:r>
              <a:rPr sz="115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VRIPhys</a:t>
            </a:r>
            <a:r>
              <a:rPr sz="115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2006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defRPr/>
            </a:pP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Macklin</a:t>
            </a:r>
            <a:r>
              <a:rPr sz="115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et</a:t>
            </a:r>
            <a:r>
              <a:rPr sz="1150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al.,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"XPBD:</a:t>
            </a:r>
            <a:r>
              <a:rPr sz="1150" i="1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 spc="-10">
                <a:solidFill>
                  <a:srgbClr val="6A7280"/>
                </a:solidFill>
                <a:latin typeface="Malgun Gothic"/>
                <a:cs typeface="Malgun Gothic"/>
              </a:rPr>
              <a:t>Position-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Based</a:t>
            </a:r>
            <a:r>
              <a:rPr sz="1150" i="1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Simulation</a:t>
            </a:r>
            <a:r>
              <a:rPr sz="1150" i="1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of</a:t>
            </a:r>
            <a:r>
              <a:rPr sz="1150" i="1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Compliant</a:t>
            </a:r>
            <a:r>
              <a:rPr sz="1150" i="1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Constrained</a:t>
            </a:r>
            <a:r>
              <a:rPr sz="1150" i="1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i="1">
                <a:solidFill>
                  <a:srgbClr val="6A7280"/>
                </a:solidFill>
                <a:latin typeface="Malgun Gothic"/>
                <a:cs typeface="Malgun Gothic"/>
              </a:rPr>
              <a:t>Dynamics"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,</a:t>
            </a:r>
            <a:r>
              <a:rPr sz="1150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MIG</a:t>
            </a:r>
            <a:r>
              <a:rPr sz="115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2016</a:t>
            </a: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80"/>
              </a:spcBef>
              <a:defRPr/>
            </a:pP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defRPr/>
            </a:pP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구현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프로젝트: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PBD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/</a:t>
            </a:r>
            <a:r>
              <a:rPr sz="115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XPBD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Cloth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Simulator</a:t>
            </a:r>
            <a:r>
              <a:rPr sz="115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(C++17,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Qt6,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spc="-10">
                <a:solidFill>
                  <a:srgbClr val="6A7280"/>
                </a:solidFill>
                <a:latin typeface="Malgun Gothic"/>
                <a:cs typeface="Malgun Gothic"/>
              </a:rPr>
              <a:t>OpenGL)</a:t>
            </a:r>
            <a:endParaRPr sz="1150">
              <a:latin typeface="Malgun Gothic"/>
              <a:cs typeface="Malgun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896916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005135" y="466788"/>
            <a:ext cx="386143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배경</a:t>
            </a:r>
            <a:r>
              <a:rPr spc="-20"/>
              <a:t> </a:t>
            </a:r>
            <a:r>
              <a:rPr/>
              <a:t>—</a:t>
            </a:r>
            <a:r>
              <a:rPr spc="-20"/>
              <a:t> </a:t>
            </a:r>
            <a:r>
              <a:rPr/>
              <a:t>힘</a:t>
            </a:r>
            <a:r>
              <a:rPr spc="-20"/>
              <a:t> </a:t>
            </a:r>
            <a:r>
              <a:rPr/>
              <a:t>기반</a:t>
            </a:r>
            <a:r>
              <a:rPr spc="-20"/>
              <a:t> </a:t>
            </a:r>
            <a:r>
              <a:rPr/>
              <a:t>vs</a:t>
            </a:r>
            <a:r>
              <a:rPr spc="-30"/>
              <a:t> </a:t>
            </a:r>
            <a:r>
              <a:rPr/>
              <a:t>위치</a:t>
            </a:r>
            <a:r>
              <a:rPr spc="-30"/>
              <a:t> </a:t>
            </a:r>
            <a:r>
              <a:rPr spc="-25"/>
              <a:t>기반</a:t>
            </a:r>
            <a:endParaRPr/>
          </a:p>
        </p:txBody>
      </p:sp>
      <p:sp>
        <p:nvSpPr>
          <p:cNvPr id="1728703504" name="object 3"/>
          <p:cNvSpPr txBox="1"/>
          <p:nvPr/>
        </p:nvSpPr>
        <p:spPr bwMode="auto">
          <a:xfrm>
            <a:off x="5080495" y="612805"/>
            <a:ext cx="19132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왜</a:t>
            </a:r>
            <a:r>
              <a:rPr sz="115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그래픽스는</a:t>
            </a:r>
            <a:r>
              <a:rPr sz="11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PBD를</a:t>
            </a:r>
            <a:r>
              <a:rPr sz="115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spc="-25">
                <a:solidFill>
                  <a:srgbClr val="6A7280"/>
                </a:solidFill>
                <a:latin typeface="Malgun Gothic"/>
                <a:cs typeface="Malgun Gothic"/>
              </a:rPr>
              <a:t>쓰는가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529494166" name="object 4"/>
          <p:cNvGrpSpPr/>
          <p:nvPr/>
        </p:nvGrpSpPr>
        <p:grpSpPr bwMode="auto">
          <a:xfrm>
            <a:off x="781049" y="1095375"/>
            <a:ext cx="5114925" cy="5305425"/>
            <a:chOff x="781049" y="1095375"/>
            <a:chExt cx="5114925" cy="5305425"/>
          </a:xfrm>
        </p:grpSpPr>
        <p:sp>
          <p:nvSpPr>
            <p:cNvPr id="5" name="object 5"/>
            <p:cNvSpPr/>
            <p:nvPr/>
          </p:nvSpPr>
          <p:spPr bwMode="auto">
            <a:xfrm>
              <a:off x="781049" y="1095375"/>
              <a:ext cx="5114925" cy="5305425"/>
            </a:xfrm>
            <a:custGeom>
              <a:avLst/>
              <a:gdLst/>
              <a:ahLst/>
              <a:cxnLst/>
              <a:rect l="l" t="t" r="r" b="b"/>
              <a:pathLst>
                <a:path w="5114925" h="5305425" fill="norm" stroke="1" extrusionOk="0">
                  <a:moveTo>
                    <a:pt x="5012401" y="5305422"/>
                  </a:moveTo>
                  <a:lnTo>
                    <a:pt x="102523" y="5305422"/>
                  </a:lnTo>
                  <a:lnTo>
                    <a:pt x="95387" y="5304720"/>
                  </a:lnTo>
                  <a:lnTo>
                    <a:pt x="54756" y="5290933"/>
                  </a:lnTo>
                  <a:lnTo>
                    <a:pt x="22495" y="5262647"/>
                  </a:lnTo>
                  <a:lnTo>
                    <a:pt x="3513" y="5224168"/>
                  </a:lnTo>
                  <a:lnTo>
                    <a:pt x="0" y="5202900"/>
                  </a:lnTo>
                  <a:lnTo>
                    <a:pt x="0" y="5195695"/>
                  </a:lnTo>
                  <a:lnTo>
                    <a:pt x="0" y="102522"/>
                  </a:lnTo>
                  <a:lnTo>
                    <a:pt x="11109" y="61078"/>
                  </a:lnTo>
                  <a:lnTo>
                    <a:pt x="37233" y="27042"/>
                  </a:lnTo>
                  <a:lnTo>
                    <a:pt x="74393" y="5593"/>
                  </a:lnTo>
                  <a:lnTo>
                    <a:pt x="102523" y="0"/>
                  </a:lnTo>
                  <a:lnTo>
                    <a:pt x="5012401" y="0"/>
                  </a:lnTo>
                  <a:lnTo>
                    <a:pt x="5053842" y="11108"/>
                  </a:lnTo>
                  <a:lnTo>
                    <a:pt x="5087880" y="37231"/>
                  </a:lnTo>
                  <a:lnTo>
                    <a:pt x="5109328" y="74391"/>
                  </a:lnTo>
                  <a:lnTo>
                    <a:pt x="5114924" y="102522"/>
                  </a:lnTo>
                  <a:lnTo>
                    <a:pt x="5114924" y="5202900"/>
                  </a:lnTo>
                  <a:lnTo>
                    <a:pt x="5103814" y="5244342"/>
                  </a:lnTo>
                  <a:lnTo>
                    <a:pt x="5077691" y="5278379"/>
                  </a:lnTo>
                  <a:lnTo>
                    <a:pt x="5040530" y="5299827"/>
                  </a:lnTo>
                  <a:lnTo>
                    <a:pt x="5019536" y="5304720"/>
                  </a:lnTo>
                  <a:lnTo>
                    <a:pt x="5012401" y="5305422"/>
                  </a:lnTo>
                  <a:close/>
                </a:path>
              </a:pathLst>
            </a:custGeom>
            <a:solidFill>
              <a:srgbClr val="F4F5FA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1004887" y="1633537"/>
              <a:ext cx="4667250" cy="457200"/>
            </a:xfrm>
            <a:custGeom>
              <a:avLst/>
              <a:gdLst/>
              <a:ahLst/>
              <a:cxnLst/>
              <a:rect l="l" t="t" r="r" b="b"/>
              <a:pathLst>
                <a:path w="4667250" h="457200" fill="norm" stroke="1" extrusionOk="0">
                  <a:moveTo>
                    <a:pt x="4586263" y="457199"/>
                  </a:moveTo>
                  <a:lnTo>
                    <a:pt x="80986" y="457199"/>
                  </a:lnTo>
                  <a:lnTo>
                    <a:pt x="75349" y="456644"/>
                  </a:lnTo>
                  <a:lnTo>
                    <a:pt x="33789" y="439429"/>
                  </a:lnTo>
                  <a:lnTo>
                    <a:pt x="8775" y="408950"/>
                  </a:lnTo>
                  <a:lnTo>
                    <a:pt x="0" y="376213"/>
                  </a:lnTo>
                  <a:lnTo>
                    <a:pt x="0" y="370522"/>
                  </a:lnTo>
                  <a:lnTo>
                    <a:pt x="0" y="80985"/>
                  </a:lnTo>
                  <a:lnTo>
                    <a:pt x="11445" y="43253"/>
                  </a:lnTo>
                  <a:lnTo>
                    <a:pt x="43254" y="11445"/>
                  </a:lnTo>
                  <a:lnTo>
                    <a:pt x="80986" y="0"/>
                  </a:lnTo>
                  <a:lnTo>
                    <a:pt x="4586263" y="0"/>
                  </a:lnTo>
                  <a:lnTo>
                    <a:pt x="4623995" y="11445"/>
                  </a:lnTo>
                  <a:lnTo>
                    <a:pt x="4655802" y="43253"/>
                  </a:lnTo>
                  <a:lnTo>
                    <a:pt x="4667249" y="80985"/>
                  </a:lnTo>
                  <a:lnTo>
                    <a:pt x="4667249" y="376213"/>
                  </a:lnTo>
                  <a:lnTo>
                    <a:pt x="4655803" y="413945"/>
                  </a:lnTo>
                  <a:lnTo>
                    <a:pt x="4623995" y="445753"/>
                  </a:lnTo>
                  <a:lnTo>
                    <a:pt x="4591900" y="456644"/>
                  </a:lnTo>
                  <a:lnTo>
                    <a:pt x="4586263" y="457199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1004887" y="1633537"/>
              <a:ext cx="4667250" cy="457200"/>
            </a:xfrm>
            <a:custGeom>
              <a:avLst/>
              <a:gdLst/>
              <a:ahLst/>
              <a:cxnLst/>
              <a:rect l="l" t="t" r="r" b="b"/>
              <a:pathLst>
                <a:path w="4667250" h="457200" fill="norm" stroke="1" extrusionOk="0">
                  <a:moveTo>
                    <a:pt x="0" y="370522"/>
                  </a:moveTo>
                  <a:lnTo>
                    <a:pt x="0" y="86677"/>
                  </a:lnTo>
                  <a:lnTo>
                    <a:pt x="0" y="80985"/>
                  </a:lnTo>
                  <a:lnTo>
                    <a:pt x="555" y="75348"/>
                  </a:lnTo>
                  <a:lnTo>
                    <a:pt x="1665" y="69766"/>
                  </a:lnTo>
                  <a:lnTo>
                    <a:pt x="2775" y="64184"/>
                  </a:lnTo>
                  <a:lnTo>
                    <a:pt x="4419" y="58764"/>
                  </a:lnTo>
                  <a:lnTo>
                    <a:pt x="25387" y="25386"/>
                  </a:lnTo>
                  <a:lnTo>
                    <a:pt x="29411" y="21362"/>
                  </a:lnTo>
                  <a:lnTo>
                    <a:pt x="64185" y="2775"/>
                  </a:lnTo>
                  <a:lnTo>
                    <a:pt x="69767" y="1665"/>
                  </a:lnTo>
                  <a:lnTo>
                    <a:pt x="75349" y="555"/>
                  </a:lnTo>
                  <a:lnTo>
                    <a:pt x="80986" y="0"/>
                  </a:lnTo>
                  <a:lnTo>
                    <a:pt x="86677" y="0"/>
                  </a:lnTo>
                  <a:lnTo>
                    <a:pt x="4580572" y="0"/>
                  </a:lnTo>
                  <a:lnTo>
                    <a:pt x="4586263" y="0"/>
                  </a:lnTo>
                  <a:lnTo>
                    <a:pt x="4591900" y="555"/>
                  </a:lnTo>
                  <a:lnTo>
                    <a:pt x="4597482" y="1665"/>
                  </a:lnTo>
                  <a:lnTo>
                    <a:pt x="4603064" y="2775"/>
                  </a:lnTo>
                  <a:lnTo>
                    <a:pt x="4608483" y="4419"/>
                  </a:lnTo>
                  <a:lnTo>
                    <a:pt x="4613741" y="6597"/>
                  </a:lnTo>
                  <a:lnTo>
                    <a:pt x="4618999" y="8775"/>
                  </a:lnTo>
                  <a:lnTo>
                    <a:pt x="4623995" y="11445"/>
                  </a:lnTo>
                  <a:lnTo>
                    <a:pt x="4628727" y="14607"/>
                  </a:lnTo>
                  <a:lnTo>
                    <a:pt x="4633459" y="17769"/>
                  </a:lnTo>
                  <a:lnTo>
                    <a:pt x="4637837" y="21362"/>
                  </a:lnTo>
                  <a:lnTo>
                    <a:pt x="4641862" y="25387"/>
                  </a:lnTo>
                  <a:lnTo>
                    <a:pt x="4645886" y="29411"/>
                  </a:lnTo>
                  <a:lnTo>
                    <a:pt x="4649479" y="33789"/>
                  </a:lnTo>
                  <a:lnTo>
                    <a:pt x="4652640" y="38521"/>
                  </a:lnTo>
                  <a:lnTo>
                    <a:pt x="4655802" y="43253"/>
                  </a:lnTo>
                  <a:lnTo>
                    <a:pt x="4658472" y="48248"/>
                  </a:lnTo>
                  <a:lnTo>
                    <a:pt x="4660650" y="53506"/>
                  </a:lnTo>
                  <a:lnTo>
                    <a:pt x="4662829" y="58764"/>
                  </a:lnTo>
                  <a:lnTo>
                    <a:pt x="4664473" y="64184"/>
                  </a:lnTo>
                  <a:lnTo>
                    <a:pt x="4665583" y="69766"/>
                  </a:lnTo>
                  <a:lnTo>
                    <a:pt x="4666694" y="75348"/>
                  </a:lnTo>
                  <a:lnTo>
                    <a:pt x="4667249" y="80985"/>
                  </a:lnTo>
                  <a:lnTo>
                    <a:pt x="4667249" y="86677"/>
                  </a:lnTo>
                  <a:lnTo>
                    <a:pt x="4667249" y="370522"/>
                  </a:lnTo>
                  <a:lnTo>
                    <a:pt x="4667249" y="376213"/>
                  </a:lnTo>
                  <a:lnTo>
                    <a:pt x="4666694" y="381850"/>
                  </a:lnTo>
                  <a:lnTo>
                    <a:pt x="4665583" y="387432"/>
                  </a:lnTo>
                  <a:lnTo>
                    <a:pt x="4664473" y="393013"/>
                  </a:lnTo>
                  <a:lnTo>
                    <a:pt x="4662829" y="398433"/>
                  </a:lnTo>
                  <a:lnTo>
                    <a:pt x="4660650" y="403691"/>
                  </a:lnTo>
                  <a:lnTo>
                    <a:pt x="4658472" y="408950"/>
                  </a:lnTo>
                  <a:lnTo>
                    <a:pt x="4633459" y="439429"/>
                  </a:lnTo>
                  <a:lnTo>
                    <a:pt x="4628727" y="442590"/>
                  </a:lnTo>
                  <a:lnTo>
                    <a:pt x="4623995" y="445753"/>
                  </a:lnTo>
                  <a:lnTo>
                    <a:pt x="4619000" y="448423"/>
                  </a:lnTo>
                  <a:lnTo>
                    <a:pt x="4613741" y="450600"/>
                  </a:lnTo>
                  <a:lnTo>
                    <a:pt x="4608484" y="452778"/>
                  </a:lnTo>
                  <a:lnTo>
                    <a:pt x="4603064" y="454422"/>
                  </a:lnTo>
                  <a:lnTo>
                    <a:pt x="4597482" y="455533"/>
                  </a:lnTo>
                  <a:lnTo>
                    <a:pt x="4591900" y="456644"/>
                  </a:lnTo>
                  <a:lnTo>
                    <a:pt x="4586263" y="457199"/>
                  </a:lnTo>
                  <a:lnTo>
                    <a:pt x="4580572" y="457199"/>
                  </a:lnTo>
                  <a:lnTo>
                    <a:pt x="86677" y="457199"/>
                  </a:lnTo>
                  <a:lnTo>
                    <a:pt x="80986" y="457199"/>
                  </a:lnTo>
                  <a:lnTo>
                    <a:pt x="75349" y="456644"/>
                  </a:lnTo>
                  <a:lnTo>
                    <a:pt x="69767" y="455533"/>
                  </a:lnTo>
                  <a:lnTo>
                    <a:pt x="64185" y="454423"/>
                  </a:lnTo>
                  <a:lnTo>
                    <a:pt x="58765" y="452779"/>
                  </a:lnTo>
                  <a:lnTo>
                    <a:pt x="53507" y="450601"/>
                  </a:lnTo>
                  <a:lnTo>
                    <a:pt x="48249" y="448423"/>
                  </a:lnTo>
                  <a:lnTo>
                    <a:pt x="17769" y="423408"/>
                  </a:lnTo>
                  <a:lnTo>
                    <a:pt x="6597" y="403691"/>
                  </a:lnTo>
                  <a:lnTo>
                    <a:pt x="4419" y="398433"/>
                  </a:lnTo>
                  <a:lnTo>
                    <a:pt x="2775" y="393013"/>
                  </a:lnTo>
                  <a:lnTo>
                    <a:pt x="1665" y="387431"/>
                  </a:lnTo>
                  <a:lnTo>
                    <a:pt x="555" y="381849"/>
                  </a:lnTo>
                  <a:lnTo>
                    <a:pt x="0" y="376213"/>
                  </a:lnTo>
                  <a:lnTo>
                    <a:pt x="0" y="370522"/>
                  </a:lnTo>
                  <a:close/>
                </a:path>
              </a:pathLst>
            </a:custGeom>
            <a:grpFill/>
            <a:ln w="9524">
              <a:solidFill>
                <a:srgbClr val="D6DBE6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75633354" name="object 8"/>
          <p:cNvSpPr txBox="1"/>
          <p:nvPr/>
        </p:nvSpPr>
        <p:spPr bwMode="auto">
          <a:xfrm>
            <a:off x="945753" y="1276413"/>
            <a:ext cx="4688205" cy="2357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>
                <a:solidFill>
                  <a:srgbClr val="6A7280"/>
                </a:solidFill>
                <a:latin typeface="Malgun Gothic"/>
                <a:cs typeface="Malgun Gothic"/>
              </a:rPr>
              <a:t>고전적인</a:t>
            </a:r>
            <a:r>
              <a:rPr sz="1400" b="1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6A7280"/>
                </a:solidFill>
                <a:latin typeface="Malgun Gothic"/>
                <a:cs typeface="Malgun Gothic"/>
              </a:rPr>
              <a:t>힘</a:t>
            </a:r>
            <a:r>
              <a:rPr sz="1400" b="1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6A7280"/>
                </a:solidFill>
                <a:latin typeface="Malgun Gothic"/>
                <a:cs typeface="Malgun Gothic"/>
              </a:rPr>
              <a:t>기반</a:t>
            </a:r>
            <a:r>
              <a:rPr sz="1400" b="1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6A7280"/>
                </a:solidFill>
                <a:latin typeface="Malgun Gothic"/>
                <a:cs typeface="Malgun Gothic"/>
              </a:rPr>
              <a:t>접근</a:t>
            </a:r>
            <a:r>
              <a:rPr sz="1400" b="1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6A7280"/>
                </a:solidFill>
                <a:latin typeface="Malgun Gothic"/>
                <a:cs typeface="Malgun Gothic"/>
              </a:rPr>
              <a:t>(FEM</a:t>
            </a:r>
            <a:r>
              <a:rPr sz="1400" b="1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6A7280"/>
                </a:solidFill>
                <a:latin typeface="Malgun Gothic"/>
                <a:cs typeface="Malgun Gothic"/>
              </a:rPr>
              <a:t>·</a:t>
            </a:r>
            <a:r>
              <a:rPr sz="1400" b="1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6A7280"/>
                </a:solidFill>
                <a:latin typeface="Malgun Gothic"/>
                <a:cs typeface="Malgun Gothic"/>
              </a:rPr>
              <a:t>다물체</a:t>
            </a:r>
            <a:r>
              <a:rPr sz="1400" b="1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400" b="1" spc="-20">
                <a:solidFill>
                  <a:srgbClr val="6A7280"/>
                </a:solidFill>
                <a:latin typeface="Malgun Gothic"/>
                <a:cs typeface="Malgun Gothic"/>
              </a:rPr>
              <a:t>동역학)</a:t>
            </a:r>
            <a:endParaRPr sz="1400">
              <a:latin typeface="Malgun Gothic"/>
              <a:cs typeface="Malgun Gothic"/>
            </a:endParaRPr>
          </a:p>
          <a:p>
            <a:pPr marL="106045" algn="ctr">
              <a:lnSpc>
                <a:spcPct val="100000"/>
              </a:lnSpc>
              <a:spcBef>
                <a:spcPts val="1770"/>
              </a:spcBef>
              <a:defRPr/>
            </a:pPr>
            <a:r>
              <a:rPr sz="1400">
                <a:solidFill>
                  <a:srgbClr val="1F242F"/>
                </a:solidFill>
                <a:latin typeface="Cambria"/>
                <a:cs typeface="Cambria"/>
              </a:rPr>
              <a:t>M</a:t>
            </a:r>
            <a:r>
              <a:rPr sz="1200">
                <a:solidFill>
                  <a:srgbClr val="1F242F"/>
                </a:solidFill>
                <a:latin typeface="Cambria Math"/>
                <a:cs typeface="Cambria Math"/>
              </a:rPr>
              <a:t>·</a:t>
            </a:r>
            <a:r>
              <a:rPr sz="1200">
                <a:solidFill>
                  <a:srgbClr val="1F242F"/>
                </a:solidFill>
                <a:latin typeface="Times New Roman"/>
                <a:cs typeface="Times New Roman"/>
              </a:rPr>
              <a:t>ẍ</a:t>
            </a:r>
            <a:r>
              <a:rPr sz="1200" spc="60">
                <a:solidFill>
                  <a:srgbClr val="1F242F"/>
                </a:solidFill>
                <a:latin typeface="Times New Roman"/>
                <a:cs typeface="Times New Roman"/>
              </a:rPr>
              <a:t> </a:t>
            </a:r>
            <a:r>
              <a:rPr sz="1200" spc="105">
                <a:solidFill>
                  <a:srgbClr val="1F242F"/>
                </a:solidFill>
                <a:latin typeface="Cambria Math"/>
                <a:cs typeface="Cambria Math"/>
              </a:rPr>
              <a:t>=</a:t>
            </a:r>
            <a:r>
              <a:rPr sz="1200" spc="100">
                <a:solidFill>
                  <a:srgbClr val="1F242F"/>
                </a:solidFill>
                <a:latin typeface="Cambria Math"/>
                <a:cs typeface="Cambria Math"/>
              </a:rPr>
              <a:t> </a:t>
            </a:r>
            <a:r>
              <a:rPr sz="1400" spc="110">
                <a:solidFill>
                  <a:srgbClr val="1F242F"/>
                </a:solidFill>
                <a:latin typeface="Cambria"/>
                <a:cs typeface="Cambria"/>
              </a:rPr>
              <a:t>f</a:t>
            </a:r>
            <a:r>
              <a:rPr sz="1200" spc="110">
                <a:solidFill>
                  <a:srgbClr val="1F242F"/>
                </a:solidFill>
                <a:latin typeface="Times New Roman"/>
                <a:cs typeface="Times New Roman"/>
              </a:rPr>
              <a:t>ₑₓ</a:t>
            </a:r>
            <a:r>
              <a:rPr sz="1250" spc="110">
                <a:solidFill>
                  <a:srgbClr val="1F242F"/>
                </a:solidFill>
                <a:latin typeface="Times New Roman"/>
                <a:cs typeface="Times New Roman"/>
              </a:rPr>
              <a:t>ₜ</a:t>
            </a:r>
            <a:r>
              <a:rPr sz="1250" spc="60">
                <a:solidFill>
                  <a:srgbClr val="1F242F"/>
                </a:solidFill>
                <a:latin typeface="Times New Roman"/>
                <a:cs typeface="Times New Roman"/>
              </a:rPr>
              <a:t> </a:t>
            </a:r>
            <a:r>
              <a:rPr sz="1200" spc="105">
                <a:solidFill>
                  <a:srgbClr val="1F242F"/>
                </a:solidFill>
                <a:latin typeface="Cambria Math"/>
                <a:cs typeface="Cambria Math"/>
              </a:rPr>
              <a:t>−</a:t>
            </a:r>
            <a:r>
              <a:rPr sz="1200" spc="100">
                <a:solidFill>
                  <a:srgbClr val="1F242F"/>
                </a:solidFill>
                <a:latin typeface="Cambria Math"/>
                <a:cs typeface="Cambria Math"/>
              </a:rPr>
              <a:t> </a:t>
            </a:r>
            <a:r>
              <a:rPr sz="1400">
                <a:solidFill>
                  <a:srgbClr val="1F242F"/>
                </a:solidFill>
                <a:latin typeface="Cambria"/>
                <a:cs typeface="Cambria"/>
              </a:rPr>
              <a:t>f</a:t>
            </a:r>
            <a:r>
              <a:rPr sz="1400">
                <a:solidFill>
                  <a:srgbClr val="1F242F"/>
                </a:solidFill>
                <a:latin typeface="Times New Roman"/>
                <a:cs typeface="Times New Roman"/>
              </a:rPr>
              <a:t>ᵢ</a:t>
            </a:r>
            <a:r>
              <a:rPr sz="1250">
                <a:solidFill>
                  <a:srgbClr val="1F242F"/>
                </a:solidFill>
                <a:latin typeface="Times New Roman"/>
                <a:cs typeface="Times New Roman"/>
              </a:rPr>
              <a:t>ₙₜ</a:t>
            </a:r>
            <a:r>
              <a:rPr sz="1300">
                <a:solidFill>
                  <a:srgbClr val="1F242F"/>
                </a:solidFill>
                <a:latin typeface="SimSun"/>
                <a:cs typeface="SimSun"/>
              </a:rPr>
              <a:t>(</a:t>
            </a:r>
            <a:r>
              <a:rPr sz="1400">
                <a:solidFill>
                  <a:srgbClr val="1F242F"/>
                </a:solidFill>
                <a:latin typeface="Cambria"/>
                <a:cs typeface="Cambria"/>
              </a:rPr>
              <a:t>x</a:t>
            </a:r>
            <a:r>
              <a:rPr sz="1250">
                <a:solidFill>
                  <a:srgbClr val="1F242F"/>
                </a:solidFill>
                <a:latin typeface="Cambria"/>
                <a:cs typeface="Cambria"/>
              </a:rPr>
              <a:t>,</a:t>
            </a:r>
            <a:r>
              <a:rPr sz="1250" spc="90">
                <a:solidFill>
                  <a:srgbClr val="1F242F"/>
                </a:solidFill>
                <a:latin typeface="Cambria"/>
                <a:cs typeface="Cambria"/>
              </a:rPr>
              <a:t> </a:t>
            </a:r>
            <a:r>
              <a:rPr sz="1200" spc="-25">
                <a:solidFill>
                  <a:srgbClr val="1F242F"/>
                </a:solidFill>
                <a:latin typeface="Times New Roman"/>
                <a:cs typeface="Times New Roman"/>
              </a:rPr>
              <a:t>ẋ</a:t>
            </a:r>
            <a:r>
              <a:rPr sz="1300" spc="-25">
                <a:solidFill>
                  <a:srgbClr val="1F242F"/>
                </a:solidFill>
                <a:latin typeface="SimSun"/>
                <a:cs typeface="SimSun"/>
              </a:rPr>
              <a:t>)</a:t>
            </a:r>
            <a:endParaRPr sz="13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defRPr/>
            </a:pPr>
            <a:endParaRPr sz="1350">
              <a:latin typeface="SimSun"/>
              <a:cs typeface="SimSu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내력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벡터를 조립해 가속도 → 속도 → 위치 순으로 </a:t>
            </a:r>
            <a:r>
              <a:rPr sz="1200" spc="-20">
                <a:solidFill>
                  <a:srgbClr val="1F242F"/>
                </a:solidFill>
                <a:latin typeface="Malgun Gothic"/>
                <a:cs typeface="Malgun Gothic"/>
              </a:rPr>
              <a:t>시간적분</a:t>
            </a:r>
            <a:endParaRPr sz="1200">
              <a:latin typeface="Malgun Gothic"/>
              <a:cs typeface="Malgun Gothic"/>
            </a:endParaRPr>
          </a:p>
          <a:p>
            <a:pPr marL="288290" marR="43180" indent="-238125">
              <a:lnSpc>
                <a:spcPct val="135400"/>
              </a:lnSpc>
              <a:spcBef>
                <a:spcPts val="675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양해법(중앙차분):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DB2525"/>
                </a:solidFill>
                <a:latin typeface="Malgun Gothic"/>
                <a:cs typeface="Malgun Gothic"/>
              </a:rPr>
              <a:t>조건부 안정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— 천·로프처럼 강성비가 큰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문제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는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임계 시간증분 Δt</a:t>
            </a:r>
            <a:r>
              <a:rPr sz="1500" baseline="-25000">
                <a:solidFill>
                  <a:srgbClr val="1F242F"/>
                </a:solidFill>
                <a:latin typeface="Malgun Gothic"/>
                <a:cs typeface="Malgun Gothic"/>
              </a:rPr>
              <a:t>cr</a:t>
            </a:r>
            <a:r>
              <a:rPr sz="1500" spc="104" baseline="-2500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이 극도로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작아짐</a:t>
            </a:r>
            <a:endParaRPr sz="1200">
              <a:latin typeface="Malgun Gothic"/>
              <a:cs typeface="Malgun Gothic"/>
            </a:endParaRPr>
          </a:p>
          <a:p>
            <a:pPr marL="288290" marR="78740" indent="-238125">
              <a:lnSpc>
                <a:spcPct val="135400"/>
              </a:lnSpc>
              <a:spcBef>
                <a:spcPts val="975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500">
                <a:solidFill>
                  <a:srgbClr val="2562EB"/>
                </a:solidFill>
                <a:latin typeface="Cambria Math"/>
                <a:cs typeface="Cambria Math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음해법(Newmark</a:t>
            </a:r>
            <a:r>
              <a:rPr sz="12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등):</a:t>
            </a:r>
            <a:r>
              <a:rPr sz="12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무조건</a:t>
            </a:r>
            <a:r>
              <a:rPr sz="12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안정이지만</a:t>
            </a:r>
            <a:r>
              <a:rPr sz="12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매</a:t>
            </a:r>
            <a:r>
              <a:rPr sz="12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증분마다</a:t>
            </a:r>
            <a:r>
              <a:rPr sz="12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Newton–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Raphson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반복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+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접선강성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선형계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풀이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→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실시간엔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부담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73839031" name="object 9"/>
          <p:cNvGrpSpPr/>
          <p:nvPr/>
        </p:nvGrpSpPr>
        <p:grpSpPr bwMode="auto">
          <a:xfrm>
            <a:off x="6257923" y="1095374"/>
            <a:ext cx="5153024" cy="5305425"/>
            <a:chOff x="6257923" y="1095374"/>
            <a:chExt cx="5153024" cy="5305425"/>
          </a:xfrm>
        </p:grpSpPr>
        <p:sp>
          <p:nvSpPr>
            <p:cNvPr id="10" name="object 10"/>
            <p:cNvSpPr/>
            <p:nvPr/>
          </p:nvSpPr>
          <p:spPr bwMode="auto">
            <a:xfrm>
              <a:off x="6267449" y="1104899"/>
              <a:ext cx="5133975" cy="5286375"/>
            </a:xfrm>
            <a:custGeom>
              <a:avLst/>
              <a:gdLst/>
              <a:ahLst/>
              <a:cxnLst/>
              <a:rect l="l" t="t" r="r" b="b"/>
              <a:pathLst>
                <a:path w="5133975" h="5286375" fill="norm" stroke="1" extrusionOk="0">
                  <a:moveTo>
                    <a:pt x="5040350" y="5286373"/>
                  </a:moveTo>
                  <a:lnTo>
                    <a:pt x="93623" y="5286373"/>
                  </a:lnTo>
                  <a:lnTo>
                    <a:pt x="87106" y="5285730"/>
                  </a:lnTo>
                  <a:lnTo>
                    <a:pt x="50002" y="5273140"/>
                  </a:lnTo>
                  <a:lnTo>
                    <a:pt x="20541" y="5247308"/>
                  </a:lnTo>
                  <a:lnTo>
                    <a:pt x="3208" y="5212170"/>
                  </a:lnTo>
                  <a:lnTo>
                    <a:pt x="0" y="5192751"/>
                  </a:lnTo>
                  <a:lnTo>
                    <a:pt x="0" y="5186171"/>
                  </a:lnTo>
                  <a:lnTo>
                    <a:pt x="0" y="93623"/>
                  </a:lnTo>
                  <a:lnTo>
                    <a:pt x="10144" y="55776"/>
                  </a:lnTo>
                  <a:lnTo>
                    <a:pt x="34000" y="24695"/>
                  </a:lnTo>
                  <a:lnTo>
                    <a:pt x="67934" y="5109"/>
                  </a:lnTo>
                  <a:lnTo>
                    <a:pt x="93623" y="0"/>
                  </a:lnTo>
                  <a:lnTo>
                    <a:pt x="5040350" y="0"/>
                  </a:lnTo>
                  <a:lnTo>
                    <a:pt x="5078194" y="10144"/>
                  </a:lnTo>
                  <a:lnTo>
                    <a:pt x="5109276" y="34000"/>
                  </a:lnTo>
                  <a:lnTo>
                    <a:pt x="5128862" y="67934"/>
                  </a:lnTo>
                  <a:lnTo>
                    <a:pt x="5133974" y="93623"/>
                  </a:lnTo>
                  <a:lnTo>
                    <a:pt x="5133974" y="5192751"/>
                  </a:lnTo>
                  <a:lnTo>
                    <a:pt x="5123827" y="5230594"/>
                  </a:lnTo>
                  <a:lnTo>
                    <a:pt x="5099972" y="5261676"/>
                  </a:lnTo>
                  <a:lnTo>
                    <a:pt x="5066038" y="5281263"/>
                  </a:lnTo>
                  <a:lnTo>
                    <a:pt x="5046865" y="5285730"/>
                  </a:lnTo>
                  <a:lnTo>
                    <a:pt x="5040350" y="5286373"/>
                  </a:lnTo>
                  <a:close/>
                </a:path>
              </a:pathLst>
            </a:custGeom>
            <a:solidFill>
              <a:srgbClr val="F4F5FA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/>
            <p:cNvSpPr/>
            <p:nvPr/>
          </p:nvSpPr>
          <p:spPr bwMode="auto">
            <a:xfrm>
              <a:off x="6267449" y="1104899"/>
              <a:ext cx="5133975" cy="5286375"/>
            </a:xfrm>
            <a:custGeom>
              <a:avLst/>
              <a:gdLst/>
              <a:ahLst/>
              <a:cxnLst/>
              <a:rect l="l" t="t" r="r" b="b"/>
              <a:pathLst>
                <a:path w="5133975" h="5286375" fill="norm" stroke="1" extrusionOk="0">
                  <a:moveTo>
                    <a:pt x="0" y="5186171"/>
                  </a:moveTo>
                  <a:lnTo>
                    <a:pt x="0" y="100203"/>
                  </a:lnTo>
                  <a:lnTo>
                    <a:pt x="0" y="93623"/>
                  </a:lnTo>
                  <a:lnTo>
                    <a:pt x="641" y="87106"/>
                  </a:lnTo>
                  <a:lnTo>
                    <a:pt x="13231" y="50002"/>
                  </a:lnTo>
                  <a:lnTo>
                    <a:pt x="16886" y="44532"/>
                  </a:lnTo>
                  <a:lnTo>
                    <a:pt x="20541" y="39061"/>
                  </a:lnTo>
                  <a:lnTo>
                    <a:pt x="24695" y="34000"/>
                  </a:lnTo>
                  <a:lnTo>
                    <a:pt x="29348" y="29348"/>
                  </a:lnTo>
                  <a:lnTo>
                    <a:pt x="34000" y="24695"/>
                  </a:lnTo>
                  <a:lnTo>
                    <a:pt x="39062" y="20541"/>
                  </a:lnTo>
                  <a:lnTo>
                    <a:pt x="44532" y="16886"/>
                  </a:lnTo>
                  <a:lnTo>
                    <a:pt x="50002" y="13231"/>
                  </a:lnTo>
                  <a:lnTo>
                    <a:pt x="80653" y="1925"/>
                  </a:lnTo>
                  <a:lnTo>
                    <a:pt x="87106" y="641"/>
                  </a:lnTo>
                  <a:lnTo>
                    <a:pt x="93623" y="0"/>
                  </a:lnTo>
                  <a:lnTo>
                    <a:pt x="100203" y="0"/>
                  </a:lnTo>
                  <a:lnTo>
                    <a:pt x="5033771" y="0"/>
                  </a:lnTo>
                  <a:lnTo>
                    <a:pt x="5040350" y="0"/>
                  </a:lnTo>
                  <a:lnTo>
                    <a:pt x="5046865" y="641"/>
                  </a:lnTo>
                  <a:lnTo>
                    <a:pt x="5053319" y="1925"/>
                  </a:lnTo>
                  <a:lnTo>
                    <a:pt x="5059772" y="3208"/>
                  </a:lnTo>
                  <a:lnTo>
                    <a:pt x="5089438" y="16886"/>
                  </a:lnTo>
                  <a:lnTo>
                    <a:pt x="5094909" y="20541"/>
                  </a:lnTo>
                  <a:lnTo>
                    <a:pt x="5099972" y="24695"/>
                  </a:lnTo>
                  <a:lnTo>
                    <a:pt x="5104624" y="29348"/>
                  </a:lnTo>
                  <a:lnTo>
                    <a:pt x="5109276" y="34000"/>
                  </a:lnTo>
                  <a:lnTo>
                    <a:pt x="5113430" y="39061"/>
                  </a:lnTo>
                  <a:lnTo>
                    <a:pt x="5117084" y="44532"/>
                  </a:lnTo>
                  <a:lnTo>
                    <a:pt x="5120740" y="50002"/>
                  </a:lnTo>
                  <a:lnTo>
                    <a:pt x="5132047" y="80653"/>
                  </a:lnTo>
                  <a:lnTo>
                    <a:pt x="5133332" y="87106"/>
                  </a:lnTo>
                  <a:lnTo>
                    <a:pt x="5133974" y="93623"/>
                  </a:lnTo>
                  <a:lnTo>
                    <a:pt x="5133974" y="100203"/>
                  </a:lnTo>
                  <a:lnTo>
                    <a:pt x="5133974" y="5186171"/>
                  </a:lnTo>
                  <a:lnTo>
                    <a:pt x="5133974" y="5192751"/>
                  </a:lnTo>
                  <a:lnTo>
                    <a:pt x="5133332" y="5199267"/>
                  </a:lnTo>
                  <a:lnTo>
                    <a:pt x="5132047" y="5205719"/>
                  </a:lnTo>
                  <a:lnTo>
                    <a:pt x="5130763" y="5212170"/>
                  </a:lnTo>
                  <a:lnTo>
                    <a:pt x="5128862" y="5218436"/>
                  </a:lnTo>
                  <a:lnTo>
                    <a:pt x="5126344" y="5224515"/>
                  </a:lnTo>
                  <a:lnTo>
                    <a:pt x="5123827" y="5230594"/>
                  </a:lnTo>
                  <a:lnTo>
                    <a:pt x="5120740" y="5236368"/>
                  </a:lnTo>
                  <a:lnTo>
                    <a:pt x="5117084" y="5241838"/>
                  </a:lnTo>
                  <a:lnTo>
                    <a:pt x="5113430" y="5247309"/>
                  </a:lnTo>
                  <a:lnTo>
                    <a:pt x="5083969" y="5273140"/>
                  </a:lnTo>
                  <a:lnTo>
                    <a:pt x="5072115" y="5278744"/>
                  </a:lnTo>
                  <a:lnTo>
                    <a:pt x="5066038" y="5281263"/>
                  </a:lnTo>
                  <a:lnTo>
                    <a:pt x="5059772" y="5283164"/>
                  </a:lnTo>
                  <a:lnTo>
                    <a:pt x="5053319" y="5284446"/>
                  </a:lnTo>
                  <a:lnTo>
                    <a:pt x="5046865" y="5285730"/>
                  </a:lnTo>
                  <a:lnTo>
                    <a:pt x="5040350" y="5286373"/>
                  </a:lnTo>
                  <a:lnTo>
                    <a:pt x="5033771" y="5286374"/>
                  </a:lnTo>
                  <a:lnTo>
                    <a:pt x="100203" y="5286374"/>
                  </a:lnTo>
                  <a:lnTo>
                    <a:pt x="93623" y="5286373"/>
                  </a:lnTo>
                  <a:lnTo>
                    <a:pt x="87106" y="5285730"/>
                  </a:lnTo>
                  <a:lnTo>
                    <a:pt x="80653" y="5284446"/>
                  </a:lnTo>
                  <a:lnTo>
                    <a:pt x="74200" y="5283164"/>
                  </a:lnTo>
                  <a:lnTo>
                    <a:pt x="67934" y="5281263"/>
                  </a:lnTo>
                  <a:lnTo>
                    <a:pt x="61856" y="5278744"/>
                  </a:lnTo>
                  <a:lnTo>
                    <a:pt x="55777" y="5276227"/>
                  </a:lnTo>
                  <a:lnTo>
                    <a:pt x="50002" y="5273140"/>
                  </a:lnTo>
                  <a:lnTo>
                    <a:pt x="44532" y="5269484"/>
                  </a:lnTo>
                  <a:lnTo>
                    <a:pt x="39062" y="5265829"/>
                  </a:lnTo>
                  <a:lnTo>
                    <a:pt x="16886" y="5241837"/>
                  </a:lnTo>
                  <a:lnTo>
                    <a:pt x="13231" y="5236368"/>
                  </a:lnTo>
                  <a:lnTo>
                    <a:pt x="641" y="5199267"/>
                  </a:lnTo>
                  <a:lnTo>
                    <a:pt x="0" y="5192751"/>
                  </a:lnTo>
                  <a:lnTo>
                    <a:pt x="0" y="5186171"/>
                  </a:lnTo>
                  <a:close/>
                </a:path>
              </a:pathLst>
            </a:custGeom>
            <a:grpFill/>
            <a:ln w="19049">
              <a:solidFill>
                <a:srgbClr val="2562EB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45614003" name="object 12"/>
          <p:cNvSpPr txBox="1"/>
          <p:nvPr/>
        </p:nvSpPr>
        <p:spPr bwMode="auto">
          <a:xfrm>
            <a:off x="6485284" y="1295463"/>
            <a:ext cx="4659630" cy="194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>
                <a:solidFill>
                  <a:srgbClr val="2562EB"/>
                </a:solidFill>
                <a:latin typeface="Malgun Gothic"/>
                <a:cs typeface="Malgun Gothic"/>
              </a:rPr>
              <a:t>PBD의</a:t>
            </a:r>
            <a:r>
              <a:rPr sz="1400" b="1" spc="-20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2562EB"/>
                </a:solidFill>
                <a:latin typeface="Malgun Gothic"/>
                <a:cs typeface="Malgun Gothic"/>
              </a:rPr>
              <a:t>발상</a:t>
            </a:r>
            <a:r>
              <a:rPr sz="1400" b="1" spc="-15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2562EB"/>
                </a:solidFill>
                <a:latin typeface="Malgun Gothic"/>
                <a:cs typeface="Malgun Gothic"/>
              </a:rPr>
              <a:t>(Müller</a:t>
            </a:r>
            <a:r>
              <a:rPr sz="1400" b="1" spc="-15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400" b="1" spc="-10">
                <a:solidFill>
                  <a:srgbClr val="2562EB"/>
                </a:solidFill>
                <a:latin typeface="Malgun Gothic"/>
                <a:cs typeface="Malgun Gothic"/>
              </a:rPr>
              <a:t>2006)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  <a:defRPr/>
            </a:pP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힘·가속도</a:t>
            </a:r>
            <a:r>
              <a:rPr sz="125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단계를</a:t>
            </a:r>
            <a:r>
              <a:rPr sz="125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건너뛰고 </a:t>
            </a:r>
            <a:r>
              <a:rPr sz="1250" b="1">
                <a:solidFill>
                  <a:srgbClr val="1F242F"/>
                </a:solidFill>
                <a:latin typeface="Malgun Gothic"/>
                <a:cs typeface="Malgun Gothic"/>
              </a:rPr>
              <a:t>절점</a:t>
            </a:r>
            <a:r>
              <a:rPr sz="125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b="1">
                <a:solidFill>
                  <a:srgbClr val="1F242F"/>
                </a:solidFill>
                <a:latin typeface="Malgun Gothic"/>
                <a:cs typeface="Malgun Gothic"/>
              </a:rPr>
              <a:t>위치를</a:t>
            </a:r>
            <a:r>
              <a:rPr sz="125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b="1">
                <a:solidFill>
                  <a:srgbClr val="1F242F"/>
                </a:solidFill>
                <a:latin typeface="Malgun Gothic"/>
                <a:cs typeface="Malgun Gothic"/>
              </a:rPr>
              <a:t>직접</a:t>
            </a:r>
            <a:r>
              <a:rPr sz="125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b="1" spc="-10">
                <a:solidFill>
                  <a:srgbClr val="1F242F"/>
                </a:solidFill>
                <a:latin typeface="Malgun Gothic"/>
                <a:cs typeface="Malgun Gothic"/>
              </a:rPr>
              <a:t>수정</a:t>
            </a:r>
            <a:r>
              <a:rPr sz="1250" spc="-10">
                <a:solidFill>
                  <a:srgbClr val="1F242F"/>
                </a:solidFill>
                <a:latin typeface="Malgun Gothic"/>
                <a:cs typeface="Malgun Gothic"/>
              </a:rPr>
              <a:t>한다.</a:t>
            </a:r>
            <a:endParaRPr sz="12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구속조건</a:t>
            </a:r>
            <a:r>
              <a:rPr sz="1200" spc="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spc="50">
                <a:solidFill>
                  <a:srgbClr val="1F242F"/>
                </a:solidFill>
                <a:latin typeface="Trebuchet MS"/>
                <a:cs typeface="Trebuchet MS"/>
              </a:rPr>
              <a:t>C</a:t>
            </a:r>
            <a:r>
              <a:rPr sz="1250" spc="50">
                <a:solidFill>
                  <a:srgbClr val="1F242F"/>
                </a:solidFill>
                <a:latin typeface="Verdana"/>
                <a:cs typeface="Verdana"/>
              </a:rPr>
              <a:t>(</a:t>
            </a:r>
            <a:r>
              <a:rPr sz="1350" spc="50">
                <a:solidFill>
                  <a:srgbClr val="1F242F"/>
                </a:solidFill>
                <a:latin typeface="Trebuchet MS"/>
                <a:cs typeface="Trebuchet MS"/>
              </a:rPr>
              <a:t>x</a:t>
            </a:r>
            <a:r>
              <a:rPr sz="1250" spc="50">
                <a:solidFill>
                  <a:srgbClr val="1F242F"/>
                </a:solidFill>
                <a:latin typeface="Verdana"/>
                <a:cs typeface="Verdana"/>
              </a:rPr>
              <a:t>)</a:t>
            </a:r>
            <a:r>
              <a:rPr sz="1250" spc="254">
                <a:solidFill>
                  <a:srgbClr val="1F242F"/>
                </a:solidFill>
                <a:latin typeface="Verdana"/>
                <a:cs typeface="Verdana"/>
              </a:rPr>
              <a:t> </a:t>
            </a:r>
            <a:r>
              <a:rPr sz="1250" spc="75">
                <a:solidFill>
                  <a:srgbClr val="1F242F"/>
                </a:solidFill>
                <a:latin typeface="Calibri"/>
                <a:cs typeface="Calibri"/>
              </a:rPr>
              <a:t>=</a:t>
            </a:r>
            <a:r>
              <a:rPr sz="1250" spc="420">
                <a:solidFill>
                  <a:srgbClr val="1F242F"/>
                </a:solidFill>
                <a:latin typeface="Calibri"/>
                <a:cs typeface="Calibri"/>
              </a:rPr>
              <a:t> </a:t>
            </a:r>
            <a:r>
              <a:rPr sz="1250" spc="-100">
                <a:solidFill>
                  <a:srgbClr val="1F242F"/>
                </a:solidFill>
                <a:latin typeface="Verdana"/>
                <a:cs typeface="Verdana"/>
              </a:rPr>
              <a:t>0</a:t>
            </a:r>
            <a:r>
              <a:rPr sz="1250" spc="-20">
                <a:solidFill>
                  <a:srgbClr val="1F242F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을 만족하도록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위치를 </a:t>
            </a:r>
            <a:r>
              <a:rPr sz="1200" b="1" spc="-10">
                <a:solidFill>
                  <a:srgbClr val="1F242F"/>
                </a:solidFill>
                <a:latin typeface="Malgun Gothic"/>
                <a:cs typeface="Malgun Gothic"/>
              </a:rPr>
              <a:t>투영(projection)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속도는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위치 변화로부터 역산 → </a:t>
            </a:r>
            <a:r>
              <a:rPr sz="1200">
                <a:solidFill>
                  <a:srgbClr val="049569"/>
                </a:solidFill>
                <a:latin typeface="Malgun Gothic"/>
                <a:cs typeface="Malgun Gothic"/>
              </a:rPr>
              <a:t>무조건 안정, 발산 </a:t>
            </a:r>
            <a:r>
              <a:rPr sz="1200" spc="-25">
                <a:solidFill>
                  <a:srgbClr val="049569"/>
                </a:solidFill>
                <a:latin typeface="Malgun Gothic"/>
                <a:cs typeface="Malgun Gothic"/>
              </a:rPr>
              <a:t>없음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전역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강성행렬 조립·선형계 풀이가 없음 → 실시간·병렬화에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적합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0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게임·영화 VFX의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사실상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표준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(NVIDIA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PhysX,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FleX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등)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467209416" name="object 13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1661088269" name="object 1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2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  <p:pic>
        <p:nvPicPr>
          <p:cNvPr id="63027332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02551" y="3921124"/>
            <a:ext cx="1813056" cy="1960335"/>
          </a:xfrm>
          <a:prstGeom prst="rect">
            <a:avLst/>
          </a:prstGeom>
        </p:spPr>
      </p:pic>
      <p:pic>
        <p:nvPicPr>
          <p:cNvPr id="92069687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289855" y="3921124"/>
            <a:ext cx="2263922" cy="1960335"/>
          </a:xfrm>
          <a:prstGeom prst="rect">
            <a:avLst/>
          </a:prstGeom>
        </p:spPr>
      </p:pic>
      <p:sp>
        <p:nvSpPr>
          <p:cNvPr id="344233730" name=""/>
          <p:cNvSpPr txBox="1"/>
          <p:nvPr/>
        </p:nvSpPr>
        <p:spPr bwMode="auto">
          <a:xfrm rot="0" flipH="0" flipV="0">
            <a:off x="1102551" y="6014356"/>
            <a:ext cx="4162202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Efficient cloth simulation using an adaptive finite element method</a:t>
            </a:r>
            <a:endParaRPr/>
          </a:p>
        </p:txBody>
      </p:sp>
      <p:pic>
        <p:nvPicPr>
          <p:cNvPr id="25895964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592637" y="3634167"/>
            <a:ext cx="2035443" cy="2358500"/>
          </a:xfrm>
          <a:prstGeom prst="rect">
            <a:avLst/>
          </a:prstGeom>
        </p:spPr>
      </p:pic>
      <p:pic>
        <p:nvPicPr>
          <p:cNvPr id="355764244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897621" y="3634167"/>
            <a:ext cx="2247292" cy="2302896"/>
          </a:xfrm>
          <a:prstGeom prst="rect">
            <a:avLst/>
          </a:prstGeom>
        </p:spPr>
      </p:pic>
      <p:sp>
        <p:nvSpPr>
          <p:cNvPr id="1692217320" name=""/>
          <p:cNvSpPr txBox="1"/>
          <p:nvPr/>
        </p:nvSpPr>
        <p:spPr bwMode="auto">
          <a:xfrm rot="0" flipH="0" flipV="0">
            <a:off x="6592637" y="6032499"/>
            <a:ext cx="1929262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League of legends</a:t>
            </a:r>
            <a:r>
              <a:rPr/>
              <a:t> - Mel</a:t>
            </a:r>
            <a:endParaRPr/>
          </a:p>
        </p:txBody>
      </p:sp>
      <p:sp>
        <p:nvSpPr>
          <p:cNvPr id="1078090074" name=""/>
          <p:cNvSpPr txBox="1"/>
          <p:nvPr/>
        </p:nvSpPr>
        <p:spPr bwMode="auto">
          <a:xfrm rot="0" flipH="0" flipV="0">
            <a:off x="9047095" y="6014356"/>
            <a:ext cx="1948342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Disney - </a:t>
            </a:r>
            <a:r>
              <a:rPr lang="en-US" sz="10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Tangled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19781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005135" y="466788"/>
            <a:ext cx="18796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PBD</a:t>
            </a:r>
            <a:r>
              <a:rPr spc="-15"/>
              <a:t> </a:t>
            </a:r>
            <a:r>
              <a:rPr spc="-20"/>
              <a:t>알고리즘</a:t>
            </a:r>
            <a:endParaRPr/>
          </a:p>
        </p:txBody>
      </p:sp>
      <p:sp>
        <p:nvSpPr>
          <p:cNvPr id="497235786" name="object 3"/>
          <p:cNvSpPr txBox="1"/>
          <p:nvPr/>
        </p:nvSpPr>
        <p:spPr bwMode="auto">
          <a:xfrm flipH="0" flipV="0">
            <a:off x="3099146" y="612804"/>
            <a:ext cx="2699144" cy="18831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Müller</a:t>
            </a:r>
            <a:r>
              <a:rPr sz="115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et</a:t>
            </a:r>
            <a:r>
              <a:rPr sz="1150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al.</a:t>
            </a:r>
            <a:r>
              <a:rPr sz="1150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2006,</a:t>
            </a:r>
            <a:r>
              <a:rPr sz="1150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Algorithm</a:t>
            </a:r>
            <a:r>
              <a:rPr sz="1150" spc="-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spc="-50">
                <a:solidFill>
                  <a:srgbClr val="6A7280"/>
                </a:solidFill>
                <a:latin typeface="Malgun Gothic"/>
                <a:cs typeface="Malgun Gothic"/>
              </a:rPr>
              <a:t>1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1016013095" name="object 4"/>
          <p:cNvGrpSpPr/>
          <p:nvPr/>
        </p:nvGrpSpPr>
        <p:grpSpPr bwMode="auto">
          <a:xfrm flipH="0" flipV="0">
            <a:off x="759556" y="1095373"/>
            <a:ext cx="5433806" cy="5315207"/>
            <a:chOff x="0" y="0"/>
            <a:chExt cx="5433806" cy="5315207"/>
          </a:xfrm>
        </p:grpSpPr>
        <p:sp>
          <p:nvSpPr>
            <p:cNvPr id="5" name="object 5"/>
            <p:cNvSpPr/>
            <p:nvPr/>
          </p:nvSpPr>
          <p:spPr bwMode="auto">
            <a:xfrm>
              <a:off x="4921" y="10338"/>
              <a:ext cx="5423963" cy="5294524"/>
            </a:xfrm>
            <a:custGeom>
              <a:avLst/>
              <a:gdLst/>
              <a:ahLst/>
              <a:cxnLst/>
              <a:rect l="l" t="t" r="r" b="b"/>
              <a:pathLst>
                <a:path w="5248275" h="2438400" fill="norm" stroke="1" extrusionOk="0">
                  <a:moveTo>
                    <a:pt x="5167288" y="2438398"/>
                  </a:moveTo>
                  <a:lnTo>
                    <a:pt x="80986" y="2438398"/>
                  </a:lnTo>
                  <a:lnTo>
                    <a:pt x="75349" y="2437842"/>
                  </a:lnTo>
                  <a:lnTo>
                    <a:pt x="33789" y="2420628"/>
                  </a:lnTo>
                  <a:lnTo>
                    <a:pt x="8775" y="2390148"/>
                  </a:lnTo>
                  <a:lnTo>
                    <a:pt x="0" y="2357412"/>
                  </a:lnTo>
                  <a:lnTo>
                    <a:pt x="0" y="2351722"/>
                  </a:lnTo>
                  <a:lnTo>
                    <a:pt x="0" y="80985"/>
                  </a:lnTo>
                  <a:lnTo>
                    <a:pt x="11445" y="43251"/>
                  </a:lnTo>
                  <a:lnTo>
                    <a:pt x="43254" y="11444"/>
                  </a:lnTo>
                  <a:lnTo>
                    <a:pt x="80986" y="0"/>
                  </a:lnTo>
                  <a:lnTo>
                    <a:pt x="5167288" y="0"/>
                  </a:lnTo>
                  <a:lnTo>
                    <a:pt x="5205019" y="11444"/>
                  </a:lnTo>
                  <a:lnTo>
                    <a:pt x="5236828" y="43251"/>
                  </a:lnTo>
                  <a:lnTo>
                    <a:pt x="5248274" y="80985"/>
                  </a:lnTo>
                  <a:lnTo>
                    <a:pt x="5248274" y="2357412"/>
                  </a:lnTo>
                  <a:lnTo>
                    <a:pt x="5236828" y="2395142"/>
                  </a:lnTo>
                  <a:lnTo>
                    <a:pt x="5205019" y="2426951"/>
                  </a:lnTo>
                  <a:lnTo>
                    <a:pt x="5172925" y="2437842"/>
                  </a:lnTo>
                  <a:lnTo>
                    <a:pt x="5167288" y="2438398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4921" y="10338"/>
              <a:ext cx="5423963" cy="5294524"/>
            </a:xfrm>
            <a:custGeom>
              <a:avLst/>
              <a:gdLst/>
              <a:ahLst/>
              <a:cxnLst/>
              <a:rect l="l" t="t" r="r" b="b"/>
              <a:pathLst>
                <a:path w="5248275" h="2438400" fill="norm" stroke="1" extrusionOk="0">
                  <a:moveTo>
                    <a:pt x="0" y="2351722"/>
                  </a:moveTo>
                  <a:lnTo>
                    <a:pt x="0" y="86677"/>
                  </a:lnTo>
                  <a:lnTo>
                    <a:pt x="0" y="80985"/>
                  </a:lnTo>
                  <a:lnTo>
                    <a:pt x="555" y="75347"/>
                  </a:lnTo>
                  <a:lnTo>
                    <a:pt x="1665" y="69764"/>
                  </a:lnTo>
                  <a:lnTo>
                    <a:pt x="2775" y="64182"/>
                  </a:lnTo>
                  <a:lnTo>
                    <a:pt x="4419" y="58762"/>
                  </a:lnTo>
                  <a:lnTo>
                    <a:pt x="6597" y="53504"/>
                  </a:lnTo>
                  <a:lnTo>
                    <a:pt x="8775" y="48247"/>
                  </a:lnTo>
                  <a:lnTo>
                    <a:pt x="25387" y="25386"/>
                  </a:lnTo>
                  <a:lnTo>
                    <a:pt x="29411" y="21361"/>
                  </a:lnTo>
                  <a:lnTo>
                    <a:pt x="33789" y="17767"/>
                  </a:lnTo>
                  <a:lnTo>
                    <a:pt x="38522" y="14606"/>
                  </a:lnTo>
                  <a:lnTo>
                    <a:pt x="43254" y="11444"/>
                  </a:lnTo>
                  <a:lnTo>
                    <a:pt x="80986" y="0"/>
                  </a:lnTo>
                  <a:lnTo>
                    <a:pt x="86677" y="0"/>
                  </a:lnTo>
                  <a:lnTo>
                    <a:pt x="5161597" y="0"/>
                  </a:lnTo>
                  <a:lnTo>
                    <a:pt x="5167288" y="0"/>
                  </a:lnTo>
                  <a:lnTo>
                    <a:pt x="5172925" y="554"/>
                  </a:lnTo>
                  <a:lnTo>
                    <a:pt x="5178506" y="1664"/>
                  </a:lnTo>
                  <a:lnTo>
                    <a:pt x="5184089" y="2775"/>
                  </a:lnTo>
                  <a:lnTo>
                    <a:pt x="5218861" y="21361"/>
                  </a:lnTo>
                  <a:lnTo>
                    <a:pt x="5222886" y="25386"/>
                  </a:lnTo>
                  <a:lnTo>
                    <a:pt x="5226910" y="29411"/>
                  </a:lnTo>
                  <a:lnTo>
                    <a:pt x="5241675" y="53506"/>
                  </a:lnTo>
                  <a:lnTo>
                    <a:pt x="5243853" y="58762"/>
                  </a:lnTo>
                  <a:lnTo>
                    <a:pt x="5248274" y="86677"/>
                  </a:lnTo>
                  <a:lnTo>
                    <a:pt x="5248274" y="2351722"/>
                  </a:lnTo>
                  <a:lnTo>
                    <a:pt x="5239497" y="2390148"/>
                  </a:lnTo>
                  <a:lnTo>
                    <a:pt x="5214483" y="2420629"/>
                  </a:lnTo>
                  <a:lnTo>
                    <a:pt x="5194766" y="2431798"/>
                  </a:lnTo>
                  <a:lnTo>
                    <a:pt x="5189509" y="2433978"/>
                  </a:lnTo>
                  <a:lnTo>
                    <a:pt x="5161597" y="2438399"/>
                  </a:lnTo>
                  <a:lnTo>
                    <a:pt x="86677" y="2438399"/>
                  </a:lnTo>
                  <a:lnTo>
                    <a:pt x="53507" y="2431798"/>
                  </a:lnTo>
                  <a:lnTo>
                    <a:pt x="48249" y="2429621"/>
                  </a:lnTo>
                  <a:lnTo>
                    <a:pt x="43254" y="2426951"/>
                  </a:lnTo>
                  <a:lnTo>
                    <a:pt x="38521" y="2423789"/>
                  </a:lnTo>
                  <a:lnTo>
                    <a:pt x="33789" y="2420628"/>
                  </a:lnTo>
                  <a:lnTo>
                    <a:pt x="8775" y="2390148"/>
                  </a:lnTo>
                  <a:lnTo>
                    <a:pt x="0" y="2357412"/>
                  </a:lnTo>
                  <a:lnTo>
                    <a:pt x="0" y="2351722"/>
                  </a:lnTo>
                  <a:close/>
                </a:path>
              </a:pathLst>
            </a:custGeom>
            <a:grpFill/>
            <a:ln w="9524">
              <a:solidFill>
                <a:srgbClr val="D6DBE6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05046312" name="object 12"/>
          <p:cNvSpPr/>
          <p:nvPr/>
        </p:nvSpPr>
        <p:spPr bwMode="auto">
          <a:xfrm>
            <a:off x="6416883" y="1095373"/>
            <a:ext cx="5010149" cy="5305425"/>
          </a:xfrm>
          <a:custGeom>
            <a:avLst/>
            <a:gdLst/>
            <a:ahLst/>
            <a:cxnLst/>
            <a:rect l="l" t="t" r="r" b="b"/>
            <a:pathLst>
              <a:path w="5010150" h="5305425" fill="norm" stroke="1" extrusionOk="0">
                <a:moveTo>
                  <a:pt x="4907626" y="5305424"/>
                </a:moveTo>
                <a:lnTo>
                  <a:pt x="102523" y="5305424"/>
                </a:lnTo>
                <a:lnTo>
                  <a:pt x="95387" y="5304722"/>
                </a:lnTo>
                <a:lnTo>
                  <a:pt x="54757" y="5290932"/>
                </a:lnTo>
                <a:lnTo>
                  <a:pt x="22495" y="5262645"/>
                </a:lnTo>
                <a:lnTo>
                  <a:pt x="3513" y="5224171"/>
                </a:lnTo>
                <a:lnTo>
                  <a:pt x="0" y="5202900"/>
                </a:lnTo>
                <a:lnTo>
                  <a:pt x="0" y="5195696"/>
                </a:lnTo>
                <a:lnTo>
                  <a:pt x="0" y="102522"/>
                </a:lnTo>
                <a:lnTo>
                  <a:pt x="11109" y="61078"/>
                </a:lnTo>
                <a:lnTo>
                  <a:pt x="37233" y="27042"/>
                </a:lnTo>
                <a:lnTo>
                  <a:pt x="74393" y="5594"/>
                </a:lnTo>
                <a:lnTo>
                  <a:pt x="102523" y="0"/>
                </a:lnTo>
                <a:lnTo>
                  <a:pt x="4907626" y="0"/>
                </a:lnTo>
                <a:lnTo>
                  <a:pt x="4949069" y="11108"/>
                </a:lnTo>
                <a:lnTo>
                  <a:pt x="4983104" y="37231"/>
                </a:lnTo>
                <a:lnTo>
                  <a:pt x="5004552" y="74391"/>
                </a:lnTo>
                <a:lnTo>
                  <a:pt x="5010150" y="102522"/>
                </a:lnTo>
                <a:lnTo>
                  <a:pt x="5010150" y="5202900"/>
                </a:lnTo>
                <a:lnTo>
                  <a:pt x="4999038" y="5244342"/>
                </a:lnTo>
                <a:lnTo>
                  <a:pt x="4972916" y="5278379"/>
                </a:lnTo>
                <a:lnTo>
                  <a:pt x="4935755" y="5299824"/>
                </a:lnTo>
                <a:lnTo>
                  <a:pt x="4914761" y="5304722"/>
                </a:lnTo>
                <a:lnTo>
                  <a:pt x="4907626" y="5305424"/>
                </a:lnTo>
                <a:close/>
              </a:path>
            </a:pathLst>
          </a:custGeom>
          <a:solidFill>
            <a:srgbClr val="F4F5FA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77598782" name="object 13"/>
          <p:cNvSpPr txBox="1"/>
          <p:nvPr/>
        </p:nvSpPr>
        <p:spPr bwMode="auto">
          <a:xfrm>
            <a:off x="6608959" y="1276412"/>
            <a:ext cx="4451074" cy="2144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동역학</a:t>
            </a:r>
            <a:r>
              <a:rPr sz="1400" b="1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관점에서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 spc="-25">
                <a:solidFill>
                  <a:srgbClr val="1F242F"/>
                </a:solidFill>
                <a:latin typeface="Malgun Gothic"/>
                <a:cs typeface="Malgun Gothic"/>
              </a:rPr>
              <a:t>보면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0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1–2단계: 반-암시적(semi-implicit)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Euler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예측자</a:t>
            </a:r>
            <a:endParaRPr sz="1200">
              <a:latin typeface="Malgun Gothic"/>
              <a:cs typeface="Malgun Gothic"/>
            </a:endParaRPr>
          </a:p>
          <a:p>
            <a:pPr marL="250190" marR="5080" indent="-238125">
              <a:lnSpc>
                <a:spcPct val="134300"/>
              </a:lnSpc>
              <a:spcBef>
                <a:spcPts val="475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80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3단계:</a:t>
            </a:r>
            <a:r>
              <a:rPr sz="1200" spc="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예측</a:t>
            </a:r>
            <a:r>
              <a:rPr sz="1200" spc="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위치를</a:t>
            </a:r>
            <a:r>
              <a:rPr sz="1200" spc="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구속</a:t>
            </a:r>
            <a:r>
              <a:rPr sz="1200" spc="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다양체</a:t>
            </a:r>
            <a:r>
              <a:rPr sz="1200" spc="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Trebuchet MS"/>
                <a:cs typeface="Trebuchet MS"/>
              </a:rPr>
              <a:t>C</a:t>
            </a:r>
            <a:r>
              <a:rPr sz="1250">
                <a:solidFill>
                  <a:srgbClr val="1F242F"/>
                </a:solidFill>
                <a:latin typeface="Verdana"/>
                <a:cs typeface="Verdana"/>
              </a:rPr>
              <a:t>(</a:t>
            </a:r>
            <a:r>
              <a:rPr sz="1350">
                <a:solidFill>
                  <a:srgbClr val="1F242F"/>
                </a:solidFill>
                <a:latin typeface="Trebuchet MS"/>
                <a:cs typeface="Trebuchet MS"/>
              </a:rPr>
              <a:t>x</a:t>
            </a:r>
            <a:r>
              <a:rPr sz="1250">
                <a:solidFill>
                  <a:srgbClr val="1F242F"/>
                </a:solidFill>
                <a:latin typeface="Verdana"/>
                <a:cs typeface="Verdana"/>
              </a:rPr>
              <a:t>)</a:t>
            </a:r>
            <a:r>
              <a:rPr sz="1250">
                <a:solidFill>
                  <a:srgbClr val="1F242F"/>
                </a:solidFill>
                <a:latin typeface="Calibri"/>
                <a:cs typeface="Calibri"/>
              </a:rPr>
              <a:t>=</a:t>
            </a:r>
            <a:r>
              <a:rPr sz="1250">
                <a:solidFill>
                  <a:srgbClr val="1F242F"/>
                </a:solidFill>
                <a:latin typeface="Verdana"/>
                <a:cs typeface="Verdana"/>
              </a:rPr>
              <a:t>0</a:t>
            </a:r>
            <a:r>
              <a:rPr sz="1250" spc="-5">
                <a:solidFill>
                  <a:srgbClr val="1F242F"/>
                </a:solidFill>
                <a:latin typeface="Verdana"/>
                <a:cs typeface="Verdana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위로</a:t>
            </a:r>
            <a:r>
              <a:rPr sz="1200" spc="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사영</a:t>
            </a:r>
            <a:r>
              <a:rPr sz="1200" spc="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—</a:t>
            </a:r>
            <a:r>
              <a:rPr sz="1200" spc="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 spc="-25">
                <a:solidFill>
                  <a:srgbClr val="1F242F"/>
                </a:solidFill>
                <a:latin typeface="Malgun Gothic"/>
                <a:cs typeface="Malgun Gothic"/>
              </a:rPr>
              <a:t>구속을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구속력이 아니라 기하학적 보정으로 </a:t>
            </a:r>
            <a:r>
              <a:rPr sz="1200" b="1" spc="-25">
                <a:solidFill>
                  <a:srgbClr val="1F242F"/>
                </a:solidFill>
                <a:latin typeface="Malgun Gothic"/>
                <a:cs typeface="Malgun Gothic"/>
              </a:rPr>
              <a:t>처리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5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4단계: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1F242F"/>
                </a:solidFill>
                <a:latin typeface="Trebuchet MS"/>
                <a:cs typeface="Trebuchet MS"/>
              </a:rPr>
              <a:t>v</a:t>
            </a:r>
            <a:r>
              <a:rPr sz="1350" spc="275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250" spc="75">
                <a:solidFill>
                  <a:srgbClr val="1F242F"/>
                </a:solidFill>
                <a:latin typeface="Calibri"/>
                <a:cs typeface="Calibri"/>
              </a:rPr>
              <a:t>=</a:t>
            </a:r>
            <a:r>
              <a:rPr sz="1250" spc="400">
                <a:solidFill>
                  <a:srgbClr val="1F242F"/>
                </a:solidFill>
                <a:latin typeface="Calibri"/>
                <a:cs typeface="Calibri"/>
              </a:rPr>
              <a:t> </a:t>
            </a:r>
            <a:r>
              <a:rPr sz="1250">
                <a:solidFill>
                  <a:srgbClr val="1F242F"/>
                </a:solidFill>
                <a:latin typeface="Verdana"/>
                <a:cs typeface="Verdana"/>
              </a:rPr>
              <a:t>Δ</a:t>
            </a:r>
            <a:r>
              <a:rPr sz="1350">
                <a:solidFill>
                  <a:srgbClr val="1F242F"/>
                </a:solidFill>
                <a:latin typeface="Trebuchet MS"/>
                <a:cs typeface="Trebuchet MS"/>
              </a:rPr>
              <a:t>x</a:t>
            </a:r>
            <a:r>
              <a:rPr sz="1250">
                <a:solidFill>
                  <a:srgbClr val="1F242F"/>
                </a:solidFill>
                <a:latin typeface="Verdana"/>
                <a:cs typeface="Verdana"/>
              </a:rPr>
              <a:t>/Δ</a:t>
            </a:r>
            <a:r>
              <a:rPr sz="1350">
                <a:solidFill>
                  <a:srgbClr val="1F242F"/>
                </a:solidFill>
                <a:latin typeface="Trebuchet MS"/>
                <a:cs typeface="Trebuchet MS"/>
              </a:rPr>
              <a:t>t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—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Verlet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계열과</a:t>
            </a:r>
            <a:r>
              <a:rPr sz="12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동일한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구조</a:t>
            </a:r>
            <a:endParaRPr sz="1200">
              <a:latin typeface="Malgun Gothic"/>
              <a:cs typeface="Malgun Gothic"/>
            </a:endParaRPr>
          </a:p>
          <a:p>
            <a:pPr marL="250190" marR="477520" indent="-238125">
              <a:lnSpc>
                <a:spcPct val="166700"/>
              </a:lnSpc>
              <a:spcBef>
                <a:spcPts val="345"/>
              </a:spcBef>
              <a:tabLst>
                <a:tab pos="487680" algn="l"/>
              </a:tabLst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구속을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하나씩 순차 처리 =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비선형 Gauss–Seidel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반복 </a:t>
            </a:r>
            <a:r>
              <a:rPr sz="1200" spc="-50">
                <a:solidFill>
                  <a:srgbClr val="6A7280"/>
                </a:solidFill>
                <a:latin typeface="Malgun Gothic"/>
                <a:cs typeface="Malgun Gothic"/>
              </a:rPr>
              <a:t>–</a:t>
            </a:r>
            <a:r>
              <a:rPr sz="1200">
                <a:solidFill>
                  <a:srgbClr val="6A7280"/>
                </a:solidFill>
                <a:latin typeface="Malgun Gothic"/>
                <a:cs typeface="Malgun Gothic"/>
              </a:rPr>
              <a:t>	전역</a:t>
            </a:r>
            <a:r>
              <a:rPr sz="12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6A7280"/>
                </a:solidFill>
                <a:latin typeface="Malgun Gothic"/>
                <a:cs typeface="Malgun Gothic"/>
              </a:rPr>
              <a:t>행렬 조립 없이 구속 단위의 국소 갱신만 </a:t>
            </a:r>
            <a:r>
              <a:rPr sz="1200" spc="-35">
                <a:solidFill>
                  <a:srgbClr val="6A7280"/>
                </a:solidFill>
                <a:latin typeface="Malgun Gothic"/>
                <a:cs typeface="Malgun Gothic"/>
              </a:rPr>
              <a:t>수행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637468554" name="object 14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1073428869" name="object 1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2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  <p:pic>
        <p:nvPicPr>
          <p:cNvPr id="6554887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83274" y="1276412"/>
            <a:ext cx="5029356" cy="2711138"/>
          </a:xfrm>
          <a:prstGeom prst="rect">
            <a:avLst/>
          </a:prstGeom>
        </p:spPr>
      </p:pic>
      <p:sp>
        <p:nvSpPr>
          <p:cNvPr id="542219067" name=""/>
          <p:cNvSpPr txBox="1"/>
          <p:nvPr/>
        </p:nvSpPr>
        <p:spPr bwMode="auto">
          <a:xfrm rot="0" flipH="0" flipV="0">
            <a:off x="983273" y="4142811"/>
            <a:ext cx="5014336" cy="2075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195764" indent="-195764" algn="l">
              <a:lnSpc>
                <a:spcPct val="114999"/>
              </a:lnSpc>
              <a:buFont typeface="Arial"/>
              <a:buChar char="•"/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외부힘의 작용을 계산하여 각 particle(Node)들 position 추정값 p_i 들 구함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adea"/>
              <a:cs typeface="Caladea"/>
            </a:endParaRPr>
          </a:p>
          <a:p>
            <a:pPr marL="195764" indent="-195764" algn="l">
              <a:lnSpc>
                <a:spcPct val="114999"/>
              </a:lnSpc>
              <a:buFont typeface="Arial"/>
              <a:buChar char="•"/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움직이기 전 position x_i와 외부힘만 작용한 position p_i를 통해 충돌 constraint들 생성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adea"/>
              <a:cs typeface="Caladea"/>
            </a:endParaRPr>
          </a:p>
          <a:p>
            <a:pPr marL="195764" indent="-195764" algn="l">
              <a:lnSpc>
                <a:spcPct val="114999"/>
              </a:lnSpc>
              <a:buFont typeface="Arial"/>
              <a:buChar char="•"/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모든 constraint를 순서대로 적용하면서 외부힘만 작용했던 추정값인 p_i를 update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Caladea"/>
              <a:cs typeface="Caladea"/>
            </a:endParaRPr>
          </a:p>
          <a:p>
            <a:pPr marL="195764" indent="-195764" algn="l">
              <a:lnSpc>
                <a:spcPct val="114999"/>
              </a:lnSpc>
              <a:buFont typeface="Arial"/>
              <a:buChar char="•"/>
              <a:defRPr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Caladea"/>
                <a:ea typeface="Caladea"/>
                <a:cs typeface="Caladea"/>
              </a:rPr>
              <a:t>내부힘도 고려한 position값 p_i를 통해 진짜로 particle들의 속도, 위치 값들을 update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Mgen+ 1cp light"/>
              <a:cs typeface="Mgen+ 1cp light"/>
            </a:endParaRPr>
          </a:p>
        </p:txBody>
      </p:sp>
      <p:pic>
        <p:nvPicPr>
          <p:cNvPr id="141319416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348785" y="3497006"/>
            <a:ext cx="2571503" cy="2452336"/>
          </a:xfrm>
          <a:prstGeom prst="rect">
            <a:avLst/>
          </a:prstGeom>
        </p:spPr>
      </p:pic>
      <p:sp>
        <p:nvSpPr>
          <p:cNvPr id="2046581523" name=""/>
          <p:cNvSpPr txBox="1"/>
          <p:nvPr/>
        </p:nvSpPr>
        <p:spPr bwMode="auto">
          <a:xfrm rot="0" flipH="0" flipV="0">
            <a:off x="7282874" y="5994699"/>
            <a:ext cx="2592056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Gauss-seibel wave solver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199974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구속</a:t>
            </a:r>
            <a:r>
              <a:rPr spc="-45"/>
              <a:t> </a:t>
            </a:r>
            <a:r>
              <a:rPr/>
              <a:t>투영</a:t>
            </a:r>
            <a:r>
              <a:rPr spc="-40"/>
              <a:t> </a:t>
            </a:r>
            <a:r>
              <a:rPr/>
              <a:t>(Constraint</a:t>
            </a:r>
            <a:r>
              <a:rPr spc="-40"/>
              <a:t> </a:t>
            </a:r>
            <a:r>
              <a:rPr spc="-10"/>
              <a:t>Projection)</a:t>
            </a:r>
            <a:endParaRPr/>
          </a:p>
        </p:txBody>
      </p:sp>
      <p:sp>
        <p:nvSpPr>
          <p:cNvPr id="1764449296" name="object 3"/>
          <p:cNvSpPr txBox="1"/>
          <p:nvPr/>
        </p:nvSpPr>
        <p:spPr bwMode="auto">
          <a:xfrm>
            <a:off x="692069" y="1610104"/>
            <a:ext cx="5344160" cy="60388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180"/>
              </a:spcBef>
              <a:defRPr/>
            </a:pP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구속</a:t>
            </a:r>
            <a:r>
              <a:rPr sz="1300" spc="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>
                <a:solidFill>
                  <a:srgbClr val="1F242F"/>
                </a:solidFill>
                <a:latin typeface="Trebuchet MS"/>
                <a:cs typeface="Trebuchet MS"/>
              </a:rPr>
              <a:t>C</a:t>
            </a:r>
            <a:r>
              <a:rPr sz="1350">
                <a:solidFill>
                  <a:srgbClr val="1F242F"/>
                </a:solidFill>
                <a:latin typeface="Verdana"/>
                <a:cs typeface="Verdana"/>
              </a:rPr>
              <a:t>(</a:t>
            </a:r>
            <a:r>
              <a:rPr sz="1450">
                <a:solidFill>
                  <a:srgbClr val="1F242F"/>
                </a:solidFill>
                <a:latin typeface="Trebuchet MS"/>
                <a:cs typeface="Trebuchet MS"/>
              </a:rPr>
              <a:t>p</a:t>
            </a:r>
            <a:r>
              <a:rPr sz="1350">
                <a:solidFill>
                  <a:srgbClr val="1F242F"/>
                </a:solidFill>
                <a:latin typeface="Verdana"/>
                <a:cs typeface="Verdana"/>
              </a:rPr>
              <a:t>)</a:t>
            </a:r>
            <a:r>
              <a:rPr sz="1350" spc="300">
                <a:solidFill>
                  <a:srgbClr val="1F242F"/>
                </a:solidFill>
                <a:latin typeface="Verdana"/>
                <a:cs typeface="Verdana"/>
              </a:rPr>
              <a:t> </a:t>
            </a:r>
            <a:r>
              <a:rPr sz="1350" spc="80">
                <a:solidFill>
                  <a:srgbClr val="1F242F"/>
                </a:solidFill>
                <a:latin typeface="Calibri"/>
                <a:cs typeface="Calibri"/>
              </a:rPr>
              <a:t>=</a:t>
            </a:r>
            <a:r>
              <a:rPr sz="1350" spc="470">
                <a:solidFill>
                  <a:srgbClr val="1F242F"/>
                </a:solidFill>
                <a:latin typeface="Calibri"/>
                <a:cs typeface="Calibri"/>
              </a:rPr>
              <a:t> </a:t>
            </a:r>
            <a:r>
              <a:rPr sz="1350" spc="-110">
                <a:solidFill>
                  <a:srgbClr val="1F242F"/>
                </a:solidFill>
                <a:latin typeface="Verdana"/>
                <a:cs typeface="Verdana"/>
              </a:rPr>
              <a:t>0</a:t>
            </a:r>
            <a:r>
              <a:rPr sz="1350" spc="-10">
                <a:solidFill>
                  <a:srgbClr val="1F242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을</a:t>
            </a:r>
            <a:r>
              <a:rPr sz="1300" spc="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1차(선형화)</a:t>
            </a:r>
            <a:r>
              <a:rPr sz="13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근사로</a:t>
            </a:r>
            <a:r>
              <a:rPr sz="13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풀되,</a:t>
            </a:r>
            <a:r>
              <a:rPr sz="13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보정</a:t>
            </a:r>
            <a:r>
              <a:rPr sz="13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방향은</a:t>
            </a:r>
            <a:r>
              <a:rPr sz="1300" spc="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∇C</a:t>
            </a:r>
            <a:r>
              <a:rPr sz="1300" b="1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방향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,</a:t>
            </a:r>
            <a:r>
              <a:rPr sz="13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spc="-25">
                <a:solidFill>
                  <a:srgbClr val="1F242F"/>
                </a:solidFill>
                <a:latin typeface="Malgun Gothic"/>
                <a:cs typeface="Malgun Gothic"/>
              </a:rPr>
              <a:t>크기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는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질량</a:t>
            </a:r>
            <a:r>
              <a:rPr sz="13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 spc="-25">
                <a:solidFill>
                  <a:srgbClr val="1F242F"/>
                </a:solidFill>
                <a:latin typeface="Malgun Gothic"/>
                <a:cs typeface="Malgun Gothic"/>
              </a:rPr>
              <a:t>가중</a:t>
            </a:r>
            <a:r>
              <a:rPr sz="1300" spc="-25">
                <a:solidFill>
                  <a:srgbClr val="1F242F"/>
                </a:solidFill>
                <a:latin typeface="Malgun Gothic"/>
                <a:cs typeface="Malgun Gothic"/>
              </a:rPr>
              <a:t>: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960490913" name="object 12"/>
          <p:cNvSpPr txBox="1"/>
          <p:nvPr/>
        </p:nvSpPr>
        <p:spPr bwMode="auto">
          <a:xfrm>
            <a:off x="764479" y="4663425"/>
            <a:ext cx="5361029" cy="4703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100"/>
              </a:spcBef>
              <a:defRPr/>
            </a:pP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보정이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∇C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방향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+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질량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가중이므로 </a:t>
            </a:r>
            <a:r>
              <a:rPr sz="1100" b="1">
                <a:solidFill>
                  <a:srgbClr val="6A7280"/>
                </a:solidFill>
                <a:latin typeface="Malgun Gothic"/>
                <a:cs typeface="Malgun Gothic"/>
              </a:rPr>
              <a:t>선운동량·각운동량이</a:t>
            </a:r>
            <a:r>
              <a:rPr sz="1100" b="1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 b="1">
                <a:solidFill>
                  <a:srgbClr val="6A7280"/>
                </a:solidFill>
                <a:latin typeface="Malgun Gothic"/>
                <a:cs typeface="Malgun Gothic"/>
              </a:rPr>
              <a:t>보존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된다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—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내부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구속의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 spc="-50">
                <a:solidFill>
                  <a:srgbClr val="6A7280"/>
                </a:solidFill>
                <a:latin typeface="Malgun Gothic"/>
                <a:cs typeface="Malgun Gothic"/>
              </a:rPr>
              <a:t>처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리가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가상의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외력(반력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불균형)을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만들지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 spc="-25">
                <a:solidFill>
                  <a:srgbClr val="6A7280"/>
                </a:solidFill>
                <a:latin typeface="Malgun Gothic"/>
                <a:cs typeface="Malgun Gothic"/>
              </a:rPr>
              <a:t>않음.</a:t>
            </a:r>
            <a:endParaRPr sz="1100">
              <a:latin typeface="Malgun Gothic"/>
              <a:cs typeface="Malgun Gothic"/>
            </a:endParaRPr>
          </a:p>
        </p:txBody>
      </p:sp>
      <p:pic>
        <p:nvPicPr>
          <p:cNvPr id="2025000944" name="object 13"/>
          <p:cNvPicPr/>
          <p:nvPr/>
        </p:nvPicPr>
        <p:blipFill rotWithShape="1">
          <a:blip r:embed="rId3"/>
          <a:stretch/>
        </p:blipFill>
        <p:spPr bwMode="auto">
          <a:xfrm>
            <a:off x="6505574" y="1095374"/>
            <a:ext cx="4905375" cy="5305424"/>
          </a:xfrm>
          <a:prstGeom prst="rect">
            <a:avLst/>
          </a:prstGeom>
        </p:spPr>
      </p:pic>
      <p:sp>
        <p:nvSpPr>
          <p:cNvPr id="2065760907" name="object 14"/>
          <p:cNvSpPr txBox="1"/>
          <p:nvPr/>
        </p:nvSpPr>
        <p:spPr bwMode="auto">
          <a:xfrm>
            <a:off x="6712842" y="1276413"/>
            <a:ext cx="3116580" cy="66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예: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거리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구속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(천의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기본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 spc="-25">
                <a:solidFill>
                  <a:srgbClr val="1F242F"/>
                </a:solidFill>
                <a:latin typeface="Malgun Gothic"/>
                <a:cs typeface="Malgun Gothic"/>
              </a:rPr>
              <a:t>요소)</a:t>
            </a:r>
            <a:endParaRPr sz="1400">
              <a:latin typeface="Malgun Gothic"/>
              <a:cs typeface="Malgun Gothic"/>
            </a:endParaRPr>
          </a:p>
          <a:p>
            <a:pPr marL="1403985">
              <a:lnSpc>
                <a:spcPct val="100000"/>
              </a:lnSpc>
              <a:spcBef>
                <a:spcPts val="1745"/>
              </a:spcBef>
              <a:defRPr/>
            </a:pPr>
            <a:r>
              <a:rPr sz="1350" spc="-50">
                <a:solidFill>
                  <a:srgbClr val="1F242F"/>
                </a:solidFill>
                <a:latin typeface="Cambria"/>
                <a:cs typeface="Cambria"/>
              </a:rPr>
              <a:t>C</a:t>
            </a:r>
            <a:r>
              <a:rPr sz="1250" spc="-50">
                <a:solidFill>
                  <a:srgbClr val="1F242F"/>
                </a:solidFill>
                <a:latin typeface="SimSun"/>
                <a:cs typeface="SimSun"/>
              </a:rPr>
              <a:t>(</a:t>
            </a:r>
            <a:r>
              <a:rPr sz="1350" spc="-50">
                <a:solidFill>
                  <a:srgbClr val="1F242F"/>
                </a:solidFill>
                <a:latin typeface="Cambria"/>
                <a:cs typeface="Cambria"/>
              </a:rPr>
              <a:t>p₁</a:t>
            </a:r>
            <a:r>
              <a:rPr sz="1250" spc="-50">
                <a:solidFill>
                  <a:srgbClr val="1F242F"/>
                </a:solidFill>
                <a:latin typeface="Cambria"/>
                <a:cs typeface="Cambria"/>
              </a:rPr>
              <a:t>,</a:t>
            </a:r>
            <a:r>
              <a:rPr sz="1250" spc="-20">
                <a:solidFill>
                  <a:srgbClr val="1F242F"/>
                </a:solidFill>
                <a:latin typeface="Cambria"/>
                <a:cs typeface="Cambria"/>
              </a:rPr>
              <a:t> </a:t>
            </a:r>
            <a:r>
              <a:rPr sz="1350" spc="-35">
                <a:solidFill>
                  <a:srgbClr val="1F242F"/>
                </a:solidFill>
                <a:latin typeface="Cambria"/>
                <a:cs typeface="Cambria"/>
              </a:rPr>
              <a:t>p₂</a:t>
            </a:r>
            <a:r>
              <a:rPr sz="1250" spc="-35">
                <a:solidFill>
                  <a:srgbClr val="1F242F"/>
                </a:solidFill>
                <a:latin typeface="SimSun"/>
                <a:cs typeface="SimSun"/>
              </a:rPr>
              <a:t>)</a:t>
            </a:r>
            <a:r>
              <a:rPr sz="1250" spc="-455">
                <a:solidFill>
                  <a:srgbClr val="1F242F"/>
                </a:solidFill>
                <a:latin typeface="SimSun"/>
                <a:cs typeface="SimSun"/>
              </a:rPr>
              <a:t> </a:t>
            </a:r>
            <a:r>
              <a:rPr sz="1200" spc="60">
                <a:solidFill>
                  <a:srgbClr val="1F242F"/>
                </a:solidFill>
                <a:latin typeface="Cambria Math"/>
                <a:cs typeface="Cambria Math"/>
              </a:rPr>
              <a:t>=</a:t>
            </a:r>
            <a:r>
              <a:rPr sz="1200" spc="25">
                <a:solidFill>
                  <a:srgbClr val="1F242F"/>
                </a:solidFill>
                <a:latin typeface="Cambria Math"/>
                <a:cs typeface="Cambria Math"/>
              </a:rPr>
              <a:t> </a:t>
            </a:r>
            <a:r>
              <a:rPr sz="1200" spc="-20">
                <a:solidFill>
                  <a:srgbClr val="1F242F"/>
                </a:solidFill>
                <a:latin typeface="Cambria"/>
                <a:cs typeface="Cambria"/>
              </a:rPr>
              <a:t>|</a:t>
            </a:r>
            <a:r>
              <a:rPr sz="1350" spc="-20">
                <a:solidFill>
                  <a:srgbClr val="1F242F"/>
                </a:solidFill>
                <a:latin typeface="Cambria"/>
                <a:cs typeface="Cambria"/>
              </a:rPr>
              <a:t>p₁</a:t>
            </a:r>
            <a:r>
              <a:rPr sz="1350" spc="-10">
                <a:solidFill>
                  <a:srgbClr val="1F242F"/>
                </a:solidFill>
                <a:latin typeface="Cambria"/>
                <a:cs typeface="Cambria"/>
              </a:rPr>
              <a:t> </a:t>
            </a:r>
            <a:r>
              <a:rPr sz="1200" spc="60">
                <a:solidFill>
                  <a:srgbClr val="1F242F"/>
                </a:solidFill>
                <a:latin typeface="Cambria Math"/>
                <a:cs typeface="Cambria Math"/>
              </a:rPr>
              <a:t>−</a:t>
            </a:r>
            <a:r>
              <a:rPr sz="1200" spc="35">
                <a:solidFill>
                  <a:srgbClr val="1F242F"/>
                </a:solidFill>
                <a:latin typeface="Cambria Math"/>
                <a:cs typeface="Cambria Math"/>
              </a:rPr>
              <a:t> </a:t>
            </a:r>
            <a:r>
              <a:rPr sz="1350" spc="-10">
                <a:solidFill>
                  <a:srgbClr val="1F242F"/>
                </a:solidFill>
                <a:latin typeface="Cambria"/>
                <a:cs typeface="Cambria"/>
              </a:rPr>
              <a:t>p₂</a:t>
            </a:r>
            <a:r>
              <a:rPr sz="1200" spc="-10">
                <a:solidFill>
                  <a:srgbClr val="1F242F"/>
                </a:solidFill>
                <a:latin typeface="Cambria"/>
                <a:cs typeface="Cambria"/>
              </a:rPr>
              <a:t>| </a:t>
            </a:r>
            <a:r>
              <a:rPr sz="1200" spc="60">
                <a:solidFill>
                  <a:srgbClr val="1F242F"/>
                </a:solidFill>
                <a:latin typeface="Cambria Math"/>
                <a:cs typeface="Cambria Math"/>
              </a:rPr>
              <a:t>−</a:t>
            </a:r>
            <a:r>
              <a:rPr sz="1200" spc="35">
                <a:solidFill>
                  <a:srgbClr val="1F242F"/>
                </a:solidFill>
                <a:latin typeface="Cambria Math"/>
                <a:cs typeface="Cambria Math"/>
              </a:rPr>
              <a:t> </a:t>
            </a:r>
            <a:r>
              <a:rPr sz="1350" spc="-50">
                <a:solidFill>
                  <a:srgbClr val="1F242F"/>
                </a:solidFill>
                <a:latin typeface="Cambria"/>
                <a:cs typeface="Cambria"/>
              </a:rPr>
              <a:t>d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207669765" name="object 1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329342642" name="object 19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2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  <p:sp>
        <p:nvSpPr>
          <p:cNvPr id="1830086318" name="object 15"/>
          <p:cNvSpPr txBox="1"/>
          <p:nvPr/>
        </p:nvSpPr>
        <p:spPr bwMode="auto">
          <a:xfrm>
            <a:off x="7618759" y="2284663"/>
            <a:ext cx="267144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1150">
                <a:solidFill>
                  <a:srgbClr val="1F242F"/>
                </a:solidFill>
                <a:latin typeface="Cambria"/>
                <a:cs typeface="Cambria"/>
              </a:rPr>
              <a:t>Δ</a:t>
            </a:r>
            <a:r>
              <a:rPr sz="1300">
                <a:solidFill>
                  <a:srgbClr val="1F242F"/>
                </a:solidFill>
                <a:latin typeface="Cambria"/>
                <a:cs typeface="Cambria"/>
              </a:rPr>
              <a:t>p₁</a:t>
            </a:r>
            <a:r>
              <a:rPr sz="1300" spc="10">
                <a:solidFill>
                  <a:srgbClr val="1F242F"/>
                </a:solidFill>
                <a:latin typeface="Cambria"/>
                <a:cs typeface="Cambria"/>
              </a:rPr>
              <a:t> </a:t>
            </a:r>
            <a:r>
              <a:rPr sz="1150" spc="65">
                <a:solidFill>
                  <a:srgbClr val="1F242F"/>
                </a:solidFill>
                <a:latin typeface="Cambria Math"/>
                <a:cs typeface="Cambria Math"/>
              </a:rPr>
              <a:t>=</a:t>
            </a:r>
            <a:r>
              <a:rPr sz="1150" spc="70">
                <a:solidFill>
                  <a:srgbClr val="1F242F"/>
                </a:solidFill>
                <a:latin typeface="Cambria Math"/>
                <a:cs typeface="Cambria Math"/>
              </a:rPr>
              <a:t> </a:t>
            </a:r>
            <a:r>
              <a:rPr sz="1150" spc="-10">
                <a:solidFill>
                  <a:srgbClr val="1F242F"/>
                </a:solidFill>
                <a:latin typeface="Cambria Math"/>
                <a:cs typeface="Cambria Math"/>
              </a:rPr>
              <a:t>−</a:t>
            </a:r>
            <a:r>
              <a:rPr sz="1200" spc="-10">
                <a:solidFill>
                  <a:srgbClr val="1F242F"/>
                </a:solidFill>
                <a:latin typeface="SimSun"/>
                <a:cs typeface="SimSun"/>
              </a:rPr>
              <a:t>(</a:t>
            </a:r>
            <a:r>
              <a:rPr sz="1300" spc="-10">
                <a:solidFill>
                  <a:srgbClr val="1F242F"/>
                </a:solidFill>
                <a:latin typeface="Cambria"/>
                <a:cs typeface="Cambria"/>
              </a:rPr>
              <a:t>w₁</a:t>
            </a:r>
            <a:r>
              <a:rPr sz="1150" spc="-10">
                <a:solidFill>
                  <a:srgbClr val="1F242F"/>
                </a:solidFill>
                <a:latin typeface="Cambria"/>
                <a:cs typeface="Cambria"/>
              </a:rPr>
              <a:t>/</a:t>
            </a:r>
            <a:r>
              <a:rPr sz="1200" spc="-10">
                <a:solidFill>
                  <a:srgbClr val="1F242F"/>
                </a:solidFill>
                <a:latin typeface="SimSun"/>
                <a:cs typeface="SimSun"/>
              </a:rPr>
              <a:t>(</a:t>
            </a:r>
            <a:r>
              <a:rPr sz="1300" spc="-10">
                <a:solidFill>
                  <a:srgbClr val="1F242F"/>
                </a:solidFill>
                <a:latin typeface="Cambria"/>
                <a:cs typeface="Cambria"/>
              </a:rPr>
              <a:t>w₁</a:t>
            </a:r>
            <a:r>
              <a:rPr sz="1150" spc="-10">
                <a:solidFill>
                  <a:srgbClr val="1F242F"/>
                </a:solidFill>
                <a:latin typeface="Cambria Math"/>
                <a:cs typeface="Cambria Math"/>
              </a:rPr>
              <a:t>+</a:t>
            </a:r>
            <a:r>
              <a:rPr sz="1300" spc="-10">
                <a:solidFill>
                  <a:srgbClr val="1F242F"/>
                </a:solidFill>
                <a:latin typeface="Cambria"/>
                <a:cs typeface="Cambria"/>
              </a:rPr>
              <a:t>w₂</a:t>
            </a:r>
            <a:r>
              <a:rPr sz="1200" spc="-10">
                <a:solidFill>
                  <a:srgbClr val="1F242F"/>
                </a:solidFill>
                <a:latin typeface="SimSun"/>
                <a:cs typeface="SimSun"/>
              </a:rPr>
              <a:t>))</a:t>
            </a:r>
            <a:r>
              <a:rPr sz="1150" spc="-10">
                <a:solidFill>
                  <a:srgbClr val="1F242F"/>
                </a:solidFill>
                <a:latin typeface="Cambria Math"/>
                <a:cs typeface="Cambria Math"/>
              </a:rPr>
              <a:t>·</a:t>
            </a:r>
            <a:r>
              <a:rPr sz="1200" spc="-10">
                <a:solidFill>
                  <a:srgbClr val="1F242F"/>
                </a:solidFill>
                <a:latin typeface="SimSun"/>
                <a:cs typeface="SimSun"/>
              </a:rPr>
              <a:t>(</a:t>
            </a:r>
            <a:r>
              <a:rPr sz="1150" spc="-10">
                <a:solidFill>
                  <a:srgbClr val="1F242F"/>
                </a:solidFill>
                <a:latin typeface="Cambria"/>
                <a:cs typeface="Cambria"/>
              </a:rPr>
              <a:t>|</a:t>
            </a:r>
            <a:r>
              <a:rPr sz="1300" spc="-10">
                <a:solidFill>
                  <a:srgbClr val="1F242F"/>
                </a:solidFill>
                <a:latin typeface="Cambria"/>
                <a:cs typeface="Cambria"/>
              </a:rPr>
              <a:t>p₁</a:t>
            </a:r>
            <a:r>
              <a:rPr sz="1150" spc="-10">
                <a:solidFill>
                  <a:srgbClr val="1F242F"/>
                </a:solidFill>
                <a:latin typeface="Cambria Math"/>
                <a:cs typeface="Cambria Math"/>
              </a:rPr>
              <a:t>−</a:t>
            </a:r>
            <a:r>
              <a:rPr sz="1300" spc="-10">
                <a:solidFill>
                  <a:srgbClr val="1F242F"/>
                </a:solidFill>
                <a:latin typeface="Cambria"/>
                <a:cs typeface="Cambria"/>
              </a:rPr>
              <a:t>p₂</a:t>
            </a:r>
            <a:r>
              <a:rPr sz="1150" spc="-10">
                <a:solidFill>
                  <a:srgbClr val="1F242F"/>
                </a:solidFill>
                <a:latin typeface="Cambria"/>
                <a:cs typeface="Cambria"/>
              </a:rPr>
              <a:t>|</a:t>
            </a:r>
            <a:r>
              <a:rPr sz="1150" spc="-10">
                <a:solidFill>
                  <a:srgbClr val="1F242F"/>
                </a:solidFill>
                <a:latin typeface="Cambria Math"/>
                <a:cs typeface="Cambria Math"/>
              </a:rPr>
              <a:t>−</a:t>
            </a:r>
            <a:r>
              <a:rPr sz="1300" spc="-10">
                <a:solidFill>
                  <a:srgbClr val="1F242F"/>
                </a:solidFill>
                <a:latin typeface="Cambria"/>
                <a:cs typeface="Cambria"/>
              </a:rPr>
              <a:t>d</a:t>
            </a:r>
            <a:r>
              <a:rPr sz="1200" spc="-10">
                <a:solidFill>
                  <a:srgbClr val="1F242F"/>
                </a:solidFill>
                <a:latin typeface="SimSun"/>
                <a:cs typeface="SimSun"/>
              </a:rPr>
              <a:t>)</a:t>
            </a:r>
            <a:r>
              <a:rPr sz="1150" spc="-10">
                <a:solidFill>
                  <a:srgbClr val="1F242F"/>
                </a:solidFill>
                <a:latin typeface="Cambria Math"/>
                <a:cs typeface="Cambria Math"/>
              </a:rPr>
              <a:t>·</a:t>
            </a:r>
            <a:r>
              <a:rPr sz="1300" spc="-10">
                <a:solidFill>
                  <a:srgbClr val="1F242F"/>
                </a:solidFill>
                <a:latin typeface="Cambria"/>
                <a:cs typeface="Cambria"/>
              </a:rPr>
              <a:t>n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511925504" name="object 16"/>
          <p:cNvSpPr txBox="1"/>
          <p:nvPr/>
        </p:nvSpPr>
        <p:spPr bwMode="auto">
          <a:xfrm>
            <a:off x="7139258" y="3663688"/>
            <a:ext cx="364490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defRPr/>
            </a:pPr>
            <a:r>
              <a:rPr sz="1350">
                <a:solidFill>
                  <a:srgbClr val="6A7280"/>
                </a:solidFill>
                <a:latin typeface="Malgun Gothic"/>
                <a:cs typeface="Malgun Gothic"/>
              </a:rPr>
              <a:t>늘어난</a:t>
            </a:r>
            <a:r>
              <a:rPr sz="1350" spc="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6A7280"/>
                </a:solidFill>
                <a:latin typeface="Malgun Gothic"/>
                <a:cs typeface="Malgun Gothic"/>
              </a:rPr>
              <a:t>길이</a:t>
            </a:r>
            <a:r>
              <a:rPr sz="1350" spc="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6A7280"/>
                </a:solidFill>
                <a:latin typeface="Malgun Gothic"/>
                <a:cs typeface="Malgun Gothic"/>
              </a:rPr>
              <a:t>→</a:t>
            </a:r>
            <a:r>
              <a:rPr sz="1350" spc="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6A7280"/>
                </a:solidFill>
                <a:latin typeface="Malgun Gothic"/>
                <a:cs typeface="Malgun Gothic"/>
              </a:rPr>
              <a:t>원래</a:t>
            </a:r>
            <a:r>
              <a:rPr sz="1350" spc="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6A7280"/>
                </a:solidFill>
                <a:latin typeface="Malgun Gothic"/>
                <a:cs typeface="Malgun Gothic"/>
              </a:rPr>
              <a:t>길이</a:t>
            </a:r>
            <a:r>
              <a:rPr sz="1350" spc="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6A7280"/>
                </a:solidFill>
                <a:latin typeface="Malgun Gothic"/>
                <a:cs typeface="Malgun Gothic"/>
              </a:rPr>
              <a:t>d</a:t>
            </a:r>
            <a:r>
              <a:rPr sz="1350" spc="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6A7280"/>
                </a:solidFill>
                <a:latin typeface="Malgun Gothic"/>
                <a:cs typeface="Malgun Gothic"/>
              </a:rPr>
              <a:t>로</a:t>
            </a:r>
            <a:r>
              <a:rPr sz="1350" spc="2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6A7280"/>
                </a:solidFill>
                <a:latin typeface="Malgun Gothic"/>
                <a:cs typeface="Malgun Gothic"/>
              </a:rPr>
              <a:t>서로</a:t>
            </a:r>
            <a:r>
              <a:rPr sz="1350" spc="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6A7280"/>
                </a:solidFill>
                <a:latin typeface="Malgun Gothic"/>
                <a:cs typeface="Malgun Gothic"/>
              </a:rPr>
              <a:t>당겨</a:t>
            </a:r>
            <a:r>
              <a:rPr sz="1350" spc="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50" spc="-25">
                <a:solidFill>
                  <a:srgbClr val="6A7280"/>
                </a:solidFill>
                <a:latin typeface="Malgun Gothic"/>
                <a:cs typeface="Malgun Gothic"/>
              </a:rPr>
              <a:t>투영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798192069" name="object 17"/>
          <p:cNvSpPr txBox="1"/>
          <p:nvPr/>
        </p:nvSpPr>
        <p:spPr bwMode="auto">
          <a:xfrm>
            <a:off x="6712841" y="4180825"/>
            <a:ext cx="44189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100"/>
              </a:spcBef>
              <a:defRPr/>
            </a:pP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닫힌 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형식(closed-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form)의 국소 해</a:t>
            </a:r>
            <a:r>
              <a:rPr sz="1100" spc="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— 스프링 요소의 힘</a:t>
            </a:r>
            <a:r>
              <a:rPr sz="1100" spc="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계산·조립 </a:t>
            </a:r>
            <a:r>
              <a:rPr sz="1100" spc="-25">
                <a:solidFill>
                  <a:srgbClr val="6A7280"/>
                </a:solidFill>
                <a:latin typeface="Malgun Gothic"/>
                <a:cs typeface="Malgun Gothic"/>
              </a:rPr>
              <a:t>과정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이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필요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 spc="-25">
                <a:solidFill>
                  <a:srgbClr val="6A7280"/>
                </a:solidFill>
                <a:latin typeface="Malgun Gothic"/>
                <a:cs typeface="Malgun Gothic"/>
              </a:rPr>
              <a:t>없다.</a:t>
            </a:r>
            <a:endParaRPr sz="1100">
              <a:latin typeface="Malgun Gothic"/>
              <a:cs typeface="Malgun Gothic"/>
            </a:endParaRPr>
          </a:p>
        </p:txBody>
      </p:sp>
      <p:pic>
        <p:nvPicPr>
          <p:cNvPr id="183282122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04371" y="2568421"/>
            <a:ext cx="5719556" cy="1802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70397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005135" y="466788"/>
            <a:ext cx="158813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PBD의</a:t>
            </a:r>
            <a:r>
              <a:rPr spc="-5"/>
              <a:t> </a:t>
            </a:r>
            <a:r>
              <a:rPr spc="-25"/>
              <a:t>한계</a:t>
            </a:r>
            <a:endParaRPr/>
          </a:p>
        </p:txBody>
      </p:sp>
      <p:sp>
        <p:nvSpPr>
          <p:cNvPr id="1558591938" name="object 3"/>
          <p:cNvSpPr txBox="1"/>
          <p:nvPr/>
        </p:nvSpPr>
        <p:spPr bwMode="auto">
          <a:xfrm>
            <a:off x="2807146" y="612805"/>
            <a:ext cx="220853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강성(stiffness)이</a:t>
            </a:r>
            <a:r>
              <a:rPr sz="1150" spc="-2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물리량이</a:t>
            </a:r>
            <a:r>
              <a:rPr sz="115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spc="-25">
                <a:solidFill>
                  <a:srgbClr val="6A7280"/>
                </a:solidFill>
                <a:latin typeface="Malgun Gothic"/>
                <a:cs typeface="Malgun Gothic"/>
              </a:rPr>
              <a:t>아니다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1853925439" name="object 4"/>
          <p:cNvGrpSpPr/>
          <p:nvPr/>
        </p:nvGrpSpPr>
        <p:grpSpPr bwMode="auto">
          <a:xfrm>
            <a:off x="781049" y="2266948"/>
            <a:ext cx="10629900" cy="2124075"/>
            <a:chOff x="781049" y="2266948"/>
            <a:chExt cx="10629900" cy="2124075"/>
          </a:xfrm>
        </p:grpSpPr>
        <p:sp>
          <p:nvSpPr>
            <p:cNvPr id="5" name="object 5"/>
            <p:cNvSpPr/>
            <p:nvPr/>
          </p:nvSpPr>
          <p:spPr bwMode="auto">
            <a:xfrm>
              <a:off x="790574" y="2276473"/>
              <a:ext cx="10610850" cy="2105025"/>
            </a:xfrm>
            <a:custGeom>
              <a:avLst/>
              <a:gdLst/>
              <a:ahLst/>
              <a:cxnLst/>
              <a:rect l="l" t="t" r="r" b="b"/>
              <a:pathLst>
                <a:path w="10610850" h="2105025" fill="norm" stroke="1" extrusionOk="0">
                  <a:moveTo>
                    <a:pt x="10517224" y="2105022"/>
                  </a:moveTo>
                  <a:lnTo>
                    <a:pt x="93623" y="2105022"/>
                  </a:lnTo>
                  <a:lnTo>
                    <a:pt x="87107" y="2104380"/>
                  </a:lnTo>
                  <a:lnTo>
                    <a:pt x="50003" y="2091786"/>
                  </a:lnTo>
                  <a:lnTo>
                    <a:pt x="20542" y="2065957"/>
                  </a:lnTo>
                  <a:lnTo>
                    <a:pt x="3208" y="2030820"/>
                  </a:lnTo>
                  <a:lnTo>
                    <a:pt x="0" y="2011400"/>
                  </a:lnTo>
                  <a:lnTo>
                    <a:pt x="0" y="2004821"/>
                  </a:lnTo>
                  <a:lnTo>
                    <a:pt x="0" y="93622"/>
                  </a:lnTo>
                  <a:lnTo>
                    <a:pt x="10145" y="55775"/>
                  </a:lnTo>
                  <a:lnTo>
                    <a:pt x="34001" y="24693"/>
                  </a:lnTo>
                  <a:lnTo>
                    <a:pt x="67935" y="5109"/>
                  </a:lnTo>
                  <a:lnTo>
                    <a:pt x="93623" y="0"/>
                  </a:lnTo>
                  <a:lnTo>
                    <a:pt x="10517224" y="0"/>
                  </a:lnTo>
                  <a:lnTo>
                    <a:pt x="10555068" y="10141"/>
                  </a:lnTo>
                  <a:lnTo>
                    <a:pt x="10586150" y="33997"/>
                  </a:lnTo>
                  <a:lnTo>
                    <a:pt x="10605736" y="67933"/>
                  </a:lnTo>
                  <a:lnTo>
                    <a:pt x="10610849" y="93622"/>
                  </a:lnTo>
                  <a:lnTo>
                    <a:pt x="10610849" y="2011400"/>
                  </a:lnTo>
                  <a:lnTo>
                    <a:pt x="10600702" y="2049242"/>
                  </a:lnTo>
                  <a:lnTo>
                    <a:pt x="10576846" y="2080323"/>
                  </a:lnTo>
                  <a:lnTo>
                    <a:pt x="10542912" y="2099910"/>
                  </a:lnTo>
                  <a:lnTo>
                    <a:pt x="10523740" y="2104380"/>
                  </a:lnTo>
                  <a:lnTo>
                    <a:pt x="10517224" y="2105022"/>
                  </a:lnTo>
                  <a:close/>
                </a:path>
              </a:pathLst>
            </a:custGeom>
            <a:solidFill>
              <a:srgbClr val="F4F5FA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790574" y="2276473"/>
              <a:ext cx="10610850" cy="2105025"/>
            </a:xfrm>
            <a:custGeom>
              <a:avLst/>
              <a:gdLst/>
              <a:ahLst/>
              <a:cxnLst/>
              <a:rect l="l" t="t" r="r" b="b"/>
              <a:pathLst>
                <a:path w="10610850" h="2105025" fill="norm" stroke="1" extrusionOk="0">
                  <a:moveTo>
                    <a:pt x="0" y="2004821"/>
                  </a:moveTo>
                  <a:lnTo>
                    <a:pt x="0" y="100202"/>
                  </a:lnTo>
                  <a:lnTo>
                    <a:pt x="0" y="93622"/>
                  </a:lnTo>
                  <a:lnTo>
                    <a:pt x="641" y="87106"/>
                  </a:lnTo>
                  <a:lnTo>
                    <a:pt x="13231" y="50001"/>
                  </a:lnTo>
                  <a:lnTo>
                    <a:pt x="29348" y="29347"/>
                  </a:lnTo>
                  <a:lnTo>
                    <a:pt x="34001" y="24693"/>
                  </a:lnTo>
                  <a:lnTo>
                    <a:pt x="39062" y="20538"/>
                  </a:lnTo>
                  <a:lnTo>
                    <a:pt x="44533" y="16884"/>
                  </a:lnTo>
                  <a:lnTo>
                    <a:pt x="50003" y="13229"/>
                  </a:lnTo>
                  <a:lnTo>
                    <a:pt x="87107" y="641"/>
                  </a:lnTo>
                  <a:lnTo>
                    <a:pt x="93623" y="0"/>
                  </a:lnTo>
                  <a:lnTo>
                    <a:pt x="100203" y="0"/>
                  </a:lnTo>
                  <a:lnTo>
                    <a:pt x="10510645" y="0"/>
                  </a:lnTo>
                  <a:lnTo>
                    <a:pt x="10517224" y="0"/>
                  </a:lnTo>
                  <a:lnTo>
                    <a:pt x="10523740" y="641"/>
                  </a:lnTo>
                  <a:lnTo>
                    <a:pt x="10530193" y="1925"/>
                  </a:lnTo>
                  <a:lnTo>
                    <a:pt x="10536646" y="3207"/>
                  </a:lnTo>
                  <a:lnTo>
                    <a:pt x="10566313" y="16884"/>
                  </a:lnTo>
                  <a:lnTo>
                    <a:pt x="10571784" y="20538"/>
                  </a:lnTo>
                  <a:lnTo>
                    <a:pt x="10576846" y="24693"/>
                  </a:lnTo>
                  <a:lnTo>
                    <a:pt x="10581498" y="29347"/>
                  </a:lnTo>
                  <a:lnTo>
                    <a:pt x="10586150" y="33997"/>
                  </a:lnTo>
                  <a:lnTo>
                    <a:pt x="10590305" y="39060"/>
                  </a:lnTo>
                  <a:lnTo>
                    <a:pt x="10593959" y="44532"/>
                  </a:lnTo>
                  <a:lnTo>
                    <a:pt x="10597615" y="50001"/>
                  </a:lnTo>
                  <a:lnTo>
                    <a:pt x="10600702" y="55775"/>
                  </a:lnTo>
                  <a:lnTo>
                    <a:pt x="10603219" y="61854"/>
                  </a:lnTo>
                  <a:lnTo>
                    <a:pt x="10605736" y="67933"/>
                  </a:lnTo>
                  <a:lnTo>
                    <a:pt x="10607637" y="74199"/>
                  </a:lnTo>
                  <a:lnTo>
                    <a:pt x="10608922" y="80652"/>
                  </a:lnTo>
                  <a:lnTo>
                    <a:pt x="10610207" y="87106"/>
                  </a:lnTo>
                  <a:lnTo>
                    <a:pt x="10610849" y="93622"/>
                  </a:lnTo>
                  <a:lnTo>
                    <a:pt x="10610849" y="100202"/>
                  </a:lnTo>
                  <a:lnTo>
                    <a:pt x="10610849" y="2004821"/>
                  </a:lnTo>
                  <a:lnTo>
                    <a:pt x="10610849" y="2011400"/>
                  </a:lnTo>
                  <a:lnTo>
                    <a:pt x="10610207" y="2017913"/>
                  </a:lnTo>
                  <a:lnTo>
                    <a:pt x="10608922" y="2024367"/>
                  </a:lnTo>
                  <a:lnTo>
                    <a:pt x="10607637" y="2030820"/>
                  </a:lnTo>
                  <a:lnTo>
                    <a:pt x="10590305" y="2065957"/>
                  </a:lnTo>
                  <a:lnTo>
                    <a:pt x="10560844" y="2091788"/>
                  </a:lnTo>
                  <a:lnTo>
                    <a:pt x="10548990" y="2097392"/>
                  </a:lnTo>
                  <a:lnTo>
                    <a:pt x="10542912" y="2099910"/>
                  </a:lnTo>
                  <a:lnTo>
                    <a:pt x="10536646" y="2101813"/>
                  </a:lnTo>
                  <a:lnTo>
                    <a:pt x="10530193" y="2103096"/>
                  </a:lnTo>
                  <a:lnTo>
                    <a:pt x="10523740" y="2104380"/>
                  </a:lnTo>
                  <a:lnTo>
                    <a:pt x="10517224" y="2105022"/>
                  </a:lnTo>
                  <a:lnTo>
                    <a:pt x="10510645" y="2105024"/>
                  </a:lnTo>
                  <a:lnTo>
                    <a:pt x="100203" y="2105024"/>
                  </a:lnTo>
                  <a:lnTo>
                    <a:pt x="93623" y="2105022"/>
                  </a:lnTo>
                  <a:lnTo>
                    <a:pt x="87107" y="2104380"/>
                  </a:lnTo>
                  <a:lnTo>
                    <a:pt x="80654" y="2103096"/>
                  </a:lnTo>
                  <a:lnTo>
                    <a:pt x="74201" y="2101813"/>
                  </a:lnTo>
                  <a:lnTo>
                    <a:pt x="67935" y="2099910"/>
                  </a:lnTo>
                  <a:lnTo>
                    <a:pt x="61856" y="2097392"/>
                  </a:lnTo>
                  <a:lnTo>
                    <a:pt x="55778" y="2094874"/>
                  </a:lnTo>
                  <a:lnTo>
                    <a:pt x="50003" y="2091786"/>
                  </a:lnTo>
                  <a:lnTo>
                    <a:pt x="44533" y="2088130"/>
                  </a:lnTo>
                  <a:lnTo>
                    <a:pt x="39062" y="2084477"/>
                  </a:lnTo>
                  <a:lnTo>
                    <a:pt x="13231" y="2055018"/>
                  </a:lnTo>
                  <a:lnTo>
                    <a:pt x="641" y="2017913"/>
                  </a:lnTo>
                  <a:lnTo>
                    <a:pt x="0" y="2011400"/>
                  </a:lnTo>
                  <a:lnTo>
                    <a:pt x="0" y="2004821"/>
                  </a:lnTo>
                  <a:close/>
                </a:path>
              </a:pathLst>
            </a:custGeom>
            <a:grpFill/>
            <a:ln w="1904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01357808" name="object 7"/>
          <p:cNvSpPr txBox="1"/>
          <p:nvPr/>
        </p:nvSpPr>
        <p:spPr bwMode="auto">
          <a:xfrm>
            <a:off x="1002903" y="2467038"/>
            <a:ext cx="8006080" cy="1605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 spc="-10">
                <a:solidFill>
                  <a:srgbClr val="DB2525"/>
                </a:solidFill>
                <a:latin typeface="Malgun Gothic"/>
                <a:cs typeface="Malgun Gothic"/>
              </a:rPr>
              <a:t>결과적으로…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0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같은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1F242F"/>
                </a:solidFill>
                <a:latin typeface="Trebuchet MS"/>
                <a:cs typeface="Trebuchet MS"/>
              </a:rPr>
              <a:t>k</a:t>
            </a:r>
            <a:r>
              <a:rPr sz="1350" spc="10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라도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반복</a:t>
            </a:r>
            <a:r>
              <a:rPr sz="12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횟수·시간증분이</a:t>
            </a:r>
            <a:r>
              <a:rPr sz="12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바뀌면</a:t>
            </a:r>
            <a:r>
              <a:rPr sz="12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재료가</a:t>
            </a:r>
            <a:r>
              <a:rPr sz="12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다르게</a:t>
            </a:r>
            <a:r>
              <a:rPr sz="12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거동</a:t>
            </a:r>
            <a:r>
              <a:rPr sz="12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—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수렴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검토(convergence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study)가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성립하지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않음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반복을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늘릴수록 무한히 뻣뻣해짐 → 강성이 수치 파라미터에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종속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70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350">
                <a:solidFill>
                  <a:srgbClr val="1F242F"/>
                </a:solidFill>
                <a:latin typeface="Trebuchet MS"/>
                <a:cs typeface="Trebuchet MS"/>
              </a:rPr>
              <a:t>k</a:t>
            </a:r>
            <a:r>
              <a:rPr sz="1350" spc="15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는 영률·스프링 상수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같은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재료 물성과</a:t>
            </a:r>
            <a:r>
              <a:rPr sz="1200" b="1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대응 불가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— 페널티법과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닮았지만 페널티 계수조차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물리 단위가 없는 </a:t>
            </a:r>
            <a:r>
              <a:rPr sz="1200" spc="-50">
                <a:solidFill>
                  <a:srgbClr val="1F242F"/>
                </a:solidFill>
                <a:latin typeface="Malgun Gothic"/>
                <a:cs typeface="Malgun Gothic"/>
              </a:rPr>
              <a:t>셈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공학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해석 도구로 쓰기엔 치명적 — 파라미터 스터디가 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무의미해짐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92344163" name="object 10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1496876285" name="object 11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2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  <p:sp>
        <p:nvSpPr>
          <p:cNvPr id="1252151191" name="object 8"/>
          <p:cNvSpPr txBox="1"/>
          <p:nvPr/>
        </p:nvSpPr>
        <p:spPr bwMode="auto">
          <a:xfrm>
            <a:off x="764480" y="4575206"/>
            <a:ext cx="47917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→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이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문제를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정면으로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해결한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것이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D97705"/>
                </a:solidFill>
                <a:latin typeface="Malgun Gothic"/>
                <a:cs typeface="Malgun Gothic"/>
              </a:rPr>
              <a:t>XPBD</a:t>
            </a:r>
            <a:r>
              <a:rPr sz="1300" b="1" spc="-15">
                <a:solidFill>
                  <a:srgbClr val="D97705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D97705"/>
                </a:solidFill>
                <a:latin typeface="Malgun Gothic"/>
                <a:cs typeface="Malgun Gothic"/>
              </a:rPr>
              <a:t>(Macklin</a:t>
            </a:r>
            <a:r>
              <a:rPr sz="1300" b="1" spc="-10">
                <a:solidFill>
                  <a:srgbClr val="D97705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D97705"/>
                </a:solidFill>
                <a:latin typeface="Malgun Gothic"/>
                <a:cs typeface="Malgun Gothic"/>
              </a:rPr>
              <a:t>et</a:t>
            </a:r>
            <a:r>
              <a:rPr sz="1300" b="1" spc="-15">
                <a:solidFill>
                  <a:srgbClr val="D97705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D97705"/>
                </a:solidFill>
                <a:latin typeface="Malgun Gothic"/>
                <a:cs typeface="Malgun Gothic"/>
              </a:rPr>
              <a:t>al.</a:t>
            </a:r>
            <a:r>
              <a:rPr sz="1300" b="1" spc="-10">
                <a:solidFill>
                  <a:srgbClr val="D97705"/>
                </a:solidFill>
                <a:latin typeface="Malgun Gothic"/>
                <a:cs typeface="Malgun Gothic"/>
              </a:rPr>
              <a:t> 2016)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2041180205" name="object 9"/>
          <p:cNvSpPr txBox="1"/>
          <p:nvPr/>
        </p:nvSpPr>
        <p:spPr bwMode="auto">
          <a:xfrm>
            <a:off x="764479" y="1096948"/>
            <a:ext cx="6201495" cy="61274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3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300" spc="483">
                <a:solidFill>
                  <a:srgbClr val="2562EB"/>
                </a:solidFill>
                <a:latin typeface="Cambria Math"/>
                <a:cs typeface="Cambria Math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유연성은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보정량에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무차원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강성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계수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50">
                <a:solidFill>
                  <a:srgbClr val="1F242F"/>
                </a:solidFill>
                <a:latin typeface="Trebuchet MS"/>
                <a:cs typeface="Trebuchet MS"/>
              </a:rPr>
              <a:t>k</a:t>
            </a:r>
            <a:r>
              <a:rPr sz="1450" spc="305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300">
                <a:solidFill>
                  <a:srgbClr val="1F242F"/>
                </a:solidFill>
                <a:latin typeface="GulimChe"/>
                <a:cs typeface="GulimChe"/>
              </a:rPr>
              <a:t>∈</a:t>
            </a:r>
            <a:r>
              <a:rPr sz="1300" spc="145">
                <a:solidFill>
                  <a:srgbClr val="1F242F"/>
                </a:solidFill>
                <a:latin typeface="GulimChe"/>
                <a:cs typeface="GulimChe"/>
              </a:rPr>
              <a:t> </a:t>
            </a:r>
            <a:r>
              <a:rPr sz="1350" spc="100">
                <a:solidFill>
                  <a:srgbClr val="1F242F"/>
                </a:solidFill>
                <a:latin typeface="Verdana"/>
                <a:cs typeface="Verdana"/>
              </a:rPr>
              <a:t>[0,</a:t>
            </a:r>
            <a:r>
              <a:rPr sz="1350" spc="270">
                <a:solidFill>
                  <a:srgbClr val="1F242F"/>
                </a:solidFill>
                <a:latin typeface="Verdana"/>
                <a:cs typeface="Verdana"/>
              </a:rPr>
              <a:t> </a:t>
            </a:r>
            <a:r>
              <a:rPr sz="1350">
                <a:solidFill>
                  <a:srgbClr val="1F242F"/>
                </a:solidFill>
                <a:latin typeface="Verdana"/>
                <a:cs typeface="Verdana"/>
              </a:rPr>
              <a:t>1]</a:t>
            </a:r>
            <a:r>
              <a:rPr sz="1350" spc="-25">
                <a:solidFill>
                  <a:srgbClr val="1F242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을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곱해서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표현: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1F242F"/>
                </a:solidFill>
                <a:latin typeface="Verdana"/>
                <a:cs typeface="Verdana"/>
              </a:rPr>
              <a:t>Δ</a:t>
            </a:r>
            <a:r>
              <a:rPr sz="1450">
                <a:solidFill>
                  <a:srgbClr val="1F242F"/>
                </a:solidFill>
                <a:latin typeface="Trebuchet MS"/>
                <a:cs typeface="Trebuchet MS"/>
              </a:rPr>
              <a:t>p</a:t>
            </a:r>
            <a:r>
              <a:rPr sz="1450" spc="310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350" spc="-470">
                <a:solidFill>
                  <a:srgbClr val="1F242F"/>
                </a:solidFill>
                <a:latin typeface="Calibri"/>
                <a:cs typeface="Calibri"/>
              </a:rPr>
              <a:t>←</a:t>
            </a:r>
            <a:r>
              <a:rPr sz="1350" spc="433">
                <a:solidFill>
                  <a:srgbClr val="1F242F"/>
                </a:solidFill>
                <a:latin typeface="Calibri"/>
                <a:cs typeface="Calibri"/>
              </a:rPr>
              <a:t> </a:t>
            </a:r>
            <a:r>
              <a:rPr sz="1450" spc="-20">
                <a:solidFill>
                  <a:srgbClr val="1F242F"/>
                </a:solidFill>
                <a:latin typeface="Trebuchet MS"/>
                <a:cs typeface="Trebuchet MS"/>
              </a:rPr>
              <a:t>k</a:t>
            </a:r>
            <a:r>
              <a:rPr sz="1350" spc="-20">
                <a:solidFill>
                  <a:srgbClr val="1F242F"/>
                </a:solidFill>
                <a:latin typeface="Verdana"/>
                <a:cs typeface="Verdana"/>
              </a:rPr>
              <a:t>·Δ</a:t>
            </a:r>
            <a:r>
              <a:rPr sz="1450" spc="-20">
                <a:solidFill>
                  <a:srgbClr val="1F242F"/>
                </a:solidFill>
                <a:latin typeface="Trebuchet MS"/>
                <a:cs typeface="Trebuchet MS"/>
              </a:rPr>
              <a:t>p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  <a:defRPr/>
            </a:pPr>
            <a:r>
              <a:rPr sz="13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300" spc="10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Gauss–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Seidel</a:t>
            </a:r>
            <a:r>
              <a:rPr sz="13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반복 n회를 거치면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실효 강성은</a:t>
            </a:r>
            <a:r>
              <a:rPr sz="13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50" spc="55">
                <a:solidFill>
                  <a:srgbClr val="1F242F"/>
                </a:solidFill>
                <a:latin typeface="Verdana"/>
                <a:cs typeface="Verdana"/>
              </a:rPr>
              <a:t>1</a:t>
            </a:r>
            <a:r>
              <a:rPr sz="1350" spc="55">
                <a:solidFill>
                  <a:srgbClr val="1F242F"/>
                </a:solidFill>
                <a:latin typeface="Calibri"/>
                <a:cs typeface="Calibri"/>
              </a:rPr>
              <a:t>−</a:t>
            </a:r>
            <a:r>
              <a:rPr sz="1350" spc="55">
                <a:solidFill>
                  <a:srgbClr val="1F242F"/>
                </a:solidFill>
                <a:latin typeface="Verdana"/>
                <a:cs typeface="Verdana"/>
              </a:rPr>
              <a:t>(1</a:t>
            </a:r>
            <a:r>
              <a:rPr sz="1350" spc="55">
                <a:solidFill>
                  <a:srgbClr val="1F242F"/>
                </a:solidFill>
                <a:latin typeface="Calibri"/>
                <a:cs typeface="Calibri"/>
              </a:rPr>
              <a:t>−</a:t>
            </a:r>
            <a:r>
              <a:rPr sz="1450" spc="55">
                <a:solidFill>
                  <a:srgbClr val="1F242F"/>
                </a:solidFill>
                <a:latin typeface="Trebuchet MS"/>
                <a:cs typeface="Trebuchet MS"/>
              </a:rPr>
              <a:t>k</a:t>
            </a:r>
            <a:r>
              <a:rPr sz="1350" spc="55">
                <a:solidFill>
                  <a:srgbClr val="1F242F"/>
                </a:solidFill>
                <a:latin typeface="Verdana"/>
                <a:cs typeface="Verdana"/>
              </a:rPr>
              <a:t>)</a:t>
            </a:r>
            <a:r>
              <a:rPr sz="1450" spc="55">
                <a:solidFill>
                  <a:srgbClr val="1F242F"/>
                </a:solidFill>
                <a:latin typeface="Trebuchet MS"/>
                <a:cs typeface="Trebuchet MS"/>
              </a:rPr>
              <a:t>ⁿ</a:t>
            </a:r>
            <a:r>
              <a:rPr sz="1450" spc="25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으로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spc="-25">
                <a:solidFill>
                  <a:srgbClr val="1F242F"/>
                </a:solidFill>
                <a:latin typeface="Malgun Gothic"/>
                <a:cs typeface="Malgun Gothic"/>
              </a:rPr>
              <a:t>변함</a:t>
            </a:r>
            <a:endParaRPr sz="1300">
              <a:latin typeface="Malgun Gothic"/>
              <a:cs typeface="Malgun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625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005135" y="466788"/>
            <a:ext cx="8001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20"/>
              <a:t>XPBD</a:t>
            </a:r>
            <a:endParaRPr/>
          </a:p>
        </p:txBody>
      </p:sp>
      <p:sp>
        <p:nvSpPr>
          <p:cNvPr id="2089566210" name="object 3"/>
          <p:cNvSpPr txBox="1"/>
          <p:nvPr/>
        </p:nvSpPr>
        <p:spPr bwMode="auto">
          <a:xfrm>
            <a:off x="2019101" y="612805"/>
            <a:ext cx="289179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구속</a:t>
            </a:r>
            <a:r>
              <a:rPr sz="11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동역학의</a:t>
            </a:r>
            <a:r>
              <a:rPr sz="11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시간</a:t>
            </a:r>
            <a:r>
              <a:rPr sz="11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이산화로</a:t>
            </a:r>
            <a:r>
              <a:rPr sz="11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>
                <a:solidFill>
                  <a:srgbClr val="6A7280"/>
                </a:solidFill>
                <a:latin typeface="Malgun Gothic"/>
                <a:cs typeface="Malgun Gothic"/>
              </a:rPr>
              <a:t>PBD를</a:t>
            </a:r>
            <a:r>
              <a:rPr sz="11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50" spc="-25">
                <a:solidFill>
                  <a:srgbClr val="6A7280"/>
                </a:solidFill>
                <a:latin typeface="Malgun Gothic"/>
                <a:cs typeface="Malgun Gothic"/>
              </a:rPr>
              <a:t>재유도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1284936064" name="object 7"/>
          <p:cNvSpPr txBox="1"/>
          <p:nvPr/>
        </p:nvSpPr>
        <p:spPr bwMode="auto">
          <a:xfrm>
            <a:off x="751779" y="1847554"/>
            <a:ext cx="5147754" cy="55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28000"/>
              </a:lnSpc>
              <a:spcBef>
                <a:spcPts val="100"/>
              </a:spcBef>
              <a:defRPr/>
            </a:pP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구속을</a:t>
            </a:r>
            <a:r>
              <a:rPr sz="125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강성</a:t>
            </a:r>
            <a:r>
              <a:rPr sz="125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>
                <a:solidFill>
                  <a:srgbClr val="1F242F"/>
                </a:solidFill>
                <a:latin typeface="Trebuchet MS"/>
                <a:cs typeface="Trebuchet MS"/>
              </a:rPr>
              <a:t>k</a:t>
            </a:r>
            <a:r>
              <a:rPr sz="1400" spc="15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대신</a:t>
            </a:r>
            <a:r>
              <a:rPr sz="125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b="1">
                <a:solidFill>
                  <a:srgbClr val="1F242F"/>
                </a:solidFill>
                <a:latin typeface="Malgun Gothic"/>
                <a:cs typeface="Malgun Gothic"/>
              </a:rPr>
              <a:t>컴플라이언스(유연도)</a:t>
            </a:r>
            <a:r>
              <a:rPr sz="125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b="1">
                <a:solidFill>
                  <a:srgbClr val="1F242F"/>
                </a:solidFill>
                <a:latin typeface="Malgun Gothic"/>
                <a:cs typeface="Malgun Gothic"/>
              </a:rPr>
              <a:t>α</a:t>
            </a:r>
            <a:r>
              <a:rPr sz="125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b="1">
                <a:solidFill>
                  <a:srgbClr val="1F242F"/>
                </a:solidFill>
                <a:latin typeface="Malgun Gothic"/>
                <a:cs typeface="Malgun Gothic"/>
              </a:rPr>
              <a:t>=</a:t>
            </a:r>
            <a:r>
              <a:rPr sz="125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b="1">
                <a:solidFill>
                  <a:srgbClr val="1F242F"/>
                </a:solidFill>
                <a:latin typeface="Malgun Gothic"/>
                <a:cs typeface="Malgun Gothic"/>
              </a:rPr>
              <a:t>1/k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로</a:t>
            </a:r>
            <a:r>
              <a:rPr sz="125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정의한</a:t>
            </a:r>
            <a:r>
              <a:rPr sz="125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탄성</a:t>
            </a:r>
            <a:r>
              <a:rPr sz="125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spc="-25">
                <a:solidFill>
                  <a:srgbClr val="1F242F"/>
                </a:solidFill>
                <a:latin typeface="Malgun Gothic"/>
                <a:cs typeface="Malgun Gothic"/>
              </a:rPr>
              <a:t>변형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에너지</a:t>
            </a:r>
            <a:r>
              <a:rPr sz="1250" spc="-2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50">
                <a:solidFill>
                  <a:srgbClr val="1F242F"/>
                </a:solidFill>
                <a:latin typeface="Trebuchet MS"/>
                <a:cs typeface="Trebuchet MS"/>
              </a:rPr>
              <a:t>U</a:t>
            </a:r>
            <a:r>
              <a:rPr sz="1350" spc="300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300" spc="75">
                <a:solidFill>
                  <a:srgbClr val="1F242F"/>
                </a:solidFill>
                <a:latin typeface="Calibri"/>
                <a:cs typeface="Calibri"/>
              </a:rPr>
              <a:t>=</a:t>
            </a:r>
            <a:r>
              <a:rPr sz="1300" spc="408">
                <a:solidFill>
                  <a:srgbClr val="1F242F"/>
                </a:solidFill>
                <a:latin typeface="Calibri"/>
                <a:cs typeface="Calibri"/>
              </a:rPr>
              <a:t> </a:t>
            </a:r>
            <a:r>
              <a:rPr sz="1300" spc="55">
                <a:solidFill>
                  <a:srgbClr val="1F242F"/>
                </a:solidFill>
                <a:latin typeface="Verdana"/>
                <a:cs typeface="Verdana"/>
              </a:rPr>
              <a:t>(1/2)·</a:t>
            </a:r>
            <a:r>
              <a:rPr sz="1350" spc="55">
                <a:solidFill>
                  <a:srgbClr val="1F242F"/>
                </a:solidFill>
                <a:latin typeface="Trebuchet MS"/>
                <a:cs typeface="Trebuchet MS"/>
              </a:rPr>
              <a:t>C</a:t>
            </a:r>
            <a:r>
              <a:rPr sz="1250" spc="55">
                <a:solidFill>
                  <a:srgbClr val="1F242F"/>
                </a:solidFill>
                <a:latin typeface="Consolas"/>
                <a:cs typeface="Consolas"/>
              </a:rPr>
              <a:t>ᵀ</a:t>
            </a:r>
            <a:r>
              <a:rPr sz="1300" spc="55">
                <a:solidFill>
                  <a:srgbClr val="1F242F"/>
                </a:solidFill>
                <a:latin typeface="Verdana"/>
                <a:cs typeface="Verdana"/>
              </a:rPr>
              <a:t>·α</a:t>
            </a:r>
            <a:r>
              <a:rPr sz="1250" spc="55">
                <a:solidFill>
                  <a:srgbClr val="1F242F"/>
                </a:solidFill>
                <a:latin typeface="Consolas"/>
                <a:cs typeface="Consolas"/>
              </a:rPr>
              <a:t>⁻</a:t>
            </a:r>
            <a:r>
              <a:rPr sz="1300" spc="55">
                <a:solidFill>
                  <a:srgbClr val="1F242F"/>
                </a:solidFill>
                <a:latin typeface="Verdana"/>
                <a:cs typeface="Verdana"/>
              </a:rPr>
              <a:t>¹·</a:t>
            </a:r>
            <a:r>
              <a:rPr sz="1350" spc="55">
                <a:solidFill>
                  <a:srgbClr val="1F242F"/>
                </a:solidFill>
                <a:latin typeface="Trebuchet MS"/>
                <a:cs typeface="Trebuchet MS"/>
              </a:rPr>
              <a:t>C</a:t>
            </a:r>
            <a:r>
              <a:rPr sz="1350" spc="15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에서</a:t>
            </a:r>
            <a:r>
              <a:rPr sz="1250" spc="-2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출발,</a:t>
            </a:r>
            <a:r>
              <a:rPr sz="125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b="1">
                <a:solidFill>
                  <a:srgbClr val="1F242F"/>
                </a:solidFill>
                <a:latin typeface="Malgun Gothic"/>
                <a:cs typeface="Malgun Gothic"/>
              </a:rPr>
              <a:t>후향</a:t>
            </a:r>
            <a:r>
              <a:rPr sz="1250" b="1" spc="-2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b="1">
                <a:solidFill>
                  <a:srgbClr val="1F242F"/>
                </a:solidFill>
                <a:latin typeface="Malgun Gothic"/>
                <a:cs typeface="Malgun Gothic"/>
              </a:rPr>
              <a:t>Euler(음해법)</a:t>
            </a:r>
            <a:r>
              <a:rPr sz="1250">
                <a:solidFill>
                  <a:srgbClr val="1F242F"/>
                </a:solidFill>
                <a:latin typeface="Malgun Gothic"/>
                <a:cs typeface="Malgun Gothic"/>
              </a:rPr>
              <a:t>로</a:t>
            </a:r>
            <a:r>
              <a:rPr sz="1250" spc="-2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50" spc="-20">
                <a:solidFill>
                  <a:srgbClr val="1F242F"/>
                </a:solidFill>
                <a:latin typeface="Malgun Gothic"/>
                <a:cs typeface="Malgun Gothic"/>
              </a:rPr>
              <a:t>이산화: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839529460" name="object 11"/>
          <p:cNvSpPr txBox="1"/>
          <p:nvPr/>
        </p:nvSpPr>
        <p:spPr bwMode="auto">
          <a:xfrm>
            <a:off x="751779" y="5074174"/>
            <a:ext cx="5176223" cy="706662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36400"/>
              </a:lnSpc>
              <a:defRPr/>
            </a:pP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α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=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0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극한이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순수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라그랑주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승수법(강체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구속)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=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PBD(k=1).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α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&gt;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0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이면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 b="1" spc="-20">
                <a:solidFill>
                  <a:srgbClr val="6A7280"/>
                </a:solidFill>
                <a:latin typeface="Malgun Gothic"/>
                <a:cs typeface="Malgun Gothic"/>
              </a:rPr>
              <a:t>정칙화된 </a:t>
            </a:r>
            <a:r>
              <a:rPr sz="1100" b="1">
                <a:solidFill>
                  <a:srgbClr val="6A7280"/>
                </a:solidFill>
                <a:latin typeface="Malgun Gothic"/>
                <a:cs typeface="Malgun Gothic"/>
              </a:rPr>
              <a:t>(compliant)</a:t>
            </a:r>
            <a:r>
              <a:rPr sz="1100" b="1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 b="1">
                <a:solidFill>
                  <a:srgbClr val="6A7280"/>
                </a:solidFill>
                <a:latin typeface="Malgun Gothic"/>
                <a:cs typeface="Malgun Gothic"/>
              </a:rPr>
              <a:t>구속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—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페널티법과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달리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강한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구속에서도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조건수가</a:t>
            </a:r>
            <a:r>
              <a:rPr sz="110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>
                <a:solidFill>
                  <a:srgbClr val="6A7280"/>
                </a:solidFill>
                <a:latin typeface="Malgun Gothic"/>
                <a:cs typeface="Malgun Gothic"/>
              </a:rPr>
              <a:t>악화되지</a:t>
            </a:r>
            <a:r>
              <a:rPr sz="11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100" spc="-20">
                <a:solidFill>
                  <a:srgbClr val="6A7280"/>
                </a:solidFill>
                <a:latin typeface="Malgun Gothic"/>
                <a:cs typeface="Malgun Gothic"/>
              </a:rPr>
              <a:t>않는다. (</a:t>
            </a:r>
            <a:r>
              <a:rPr lang="en-US" sz="1100" b="0" i="0" u="none" strike="noStrike" cap="none" spc="-19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Interactive simulation of elastic deformable materials</a:t>
            </a:r>
            <a:r>
              <a:rPr lang="en-US" sz="1100" b="0" i="0" u="none" strike="noStrike" cap="none" spc="-19">
                <a:solidFill>
                  <a:srgbClr val="6A7280"/>
                </a:solidFill>
                <a:latin typeface="Malgun Gothic"/>
                <a:ea typeface="Malgun Gothic"/>
                <a:cs typeface="Malgun Gothic"/>
              </a:rPr>
              <a:t>. 2006</a:t>
            </a:r>
            <a:r>
              <a:rPr sz="1100" spc="-19">
                <a:solidFill>
                  <a:srgbClr val="6A7280"/>
                </a:solidFill>
                <a:latin typeface="Malgun Gothic"/>
                <a:cs typeface="Malgun Gothic"/>
              </a:rPr>
              <a:t>)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204993844" name="object 12"/>
          <p:cNvGrpSpPr/>
          <p:nvPr/>
        </p:nvGrpSpPr>
        <p:grpSpPr bwMode="auto">
          <a:xfrm>
            <a:off x="6214857" y="1104897"/>
            <a:ext cx="5367993" cy="5286375"/>
            <a:chOff x="0" y="0"/>
            <a:chExt cx="5367993" cy="5286375"/>
          </a:xfrm>
        </p:grpSpPr>
        <p:sp>
          <p:nvSpPr>
            <p:cNvPr id="13" name="object 13"/>
            <p:cNvSpPr/>
            <p:nvPr/>
          </p:nvSpPr>
          <p:spPr bwMode="auto">
            <a:xfrm flipH="0" flipV="0">
              <a:off x="0" y="0"/>
              <a:ext cx="5367993" cy="5286375"/>
            </a:xfrm>
            <a:custGeom>
              <a:avLst/>
              <a:gdLst/>
              <a:ahLst/>
              <a:cxnLst/>
              <a:rect l="l" t="t" r="r" b="b"/>
              <a:pathLst>
                <a:path w="5010150" h="5286375" fill="norm" stroke="1" extrusionOk="0">
                  <a:moveTo>
                    <a:pt x="4916525" y="5286369"/>
                  </a:moveTo>
                  <a:lnTo>
                    <a:pt x="93623" y="5286369"/>
                  </a:lnTo>
                  <a:lnTo>
                    <a:pt x="87107" y="5285727"/>
                  </a:lnTo>
                  <a:lnTo>
                    <a:pt x="50003" y="5273138"/>
                  </a:lnTo>
                  <a:lnTo>
                    <a:pt x="20542" y="5247306"/>
                  </a:lnTo>
                  <a:lnTo>
                    <a:pt x="3208" y="5212170"/>
                  </a:lnTo>
                  <a:lnTo>
                    <a:pt x="0" y="5192752"/>
                  </a:lnTo>
                  <a:lnTo>
                    <a:pt x="0" y="5186171"/>
                  </a:lnTo>
                  <a:lnTo>
                    <a:pt x="0" y="93622"/>
                  </a:lnTo>
                  <a:lnTo>
                    <a:pt x="10145" y="55773"/>
                  </a:lnTo>
                  <a:lnTo>
                    <a:pt x="34001" y="24691"/>
                  </a:lnTo>
                  <a:lnTo>
                    <a:pt x="67935" y="5106"/>
                  </a:lnTo>
                  <a:lnTo>
                    <a:pt x="93623" y="0"/>
                  </a:lnTo>
                  <a:lnTo>
                    <a:pt x="4916525" y="0"/>
                  </a:lnTo>
                  <a:lnTo>
                    <a:pt x="4954369" y="10141"/>
                  </a:lnTo>
                  <a:lnTo>
                    <a:pt x="4985451" y="33995"/>
                  </a:lnTo>
                  <a:lnTo>
                    <a:pt x="5005037" y="67930"/>
                  </a:lnTo>
                  <a:lnTo>
                    <a:pt x="5010150" y="93622"/>
                  </a:lnTo>
                  <a:lnTo>
                    <a:pt x="5010150" y="5192752"/>
                  </a:lnTo>
                  <a:lnTo>
                    <a:pt x="5000003" y="5230592"/>
                  </a:lnTo>
                  <a:lnTo>
                    <a:pt x="4976147" y="5261673"/>
                  </a:lnTo>
                  <a:lnTo>
                    <a:pt x="4942213" y="5281258"/>
                  </a:lnTo>
                  <a:lnTo>
                    <a:pt x="4923041" y="5285727"/>
                  </a:lnTo>
                  <a:lnTo>
                    <a:pt x="4916525" y="5286369"/>
                  </a:lnTo>
                  <a:close/>
                </a:path>
              </a:pathLst>
            </a:custGeom>
            <a:solidFill>
              <a:srgbClr val="F4F5FA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/>
            <p:cNvSpPr/>
            <p:nvPr/>
          </p:nvSpPr>
          <p:spPr bwMode="auto">
            <a:xfrm flipH="0" flipV="0">
              <a:off x="0" y="0"/>
              <a:ext cx="5367993" cy="5286375"/>
            </a:xfrm>
            <a:custGeom>
              <a:avLst/>
              <a:gdLst/>
              <a:ahLst/>
              <a:cxnLst/>
              <a:rect l="l" t="t" r="r" b="b"/>
              <a:pathLst>
                <a:path w="5010150" h="5286375" fill="norm" stroke="1" extrusionOk="0">
                  <a:moveTo>
                    <a:pt x="0" y="5186171"/>
                  </a:moveTo>
                  <a:lnTo>
                    <a:pt x="0" y="100202"/>
                  </a:lnTo>
                  <a:lnTo>
                    <a:pt x="0" y="93622"/>
                  </a:lnTo>
                  <a:lnTo>
                    <a:pt x="641" y="87104"/>
                  </a:lnTo>
                  <a:lnTo>
                    <a:pt x="1925" y="80651"/>
                  </a:lnTo>
                  <a:lnTo>
                    <a:pt x="3208" y="74197"/>
                  </a:lnTo>
                  <a:lnTo>
                    <a:pt x="5109" y="67933"/>
                  </a:lnTo>
                  <a:lnTo>
                    <a:pt x="7627" y="61854"/>
                  </a:lnTo>
                  <a:lnTo>
                    <a:pt x="10145" y="55773"/>
                  </a:lnTo>
                  <a:lnTo>
                    <a:pt x="13231" y="49999"/>
                  </a:lnTo>
                  <a:lnTo>
                    <a:pt x="16887" y="44529"/>
                  </a:lnTo>
                  <a:lnTo>
                    <a:pt x="20542" y="39058"/>
                  </a:lnTo>
                  <a:lnTo>
                    <a:pt x="24696" y="33995"/>
                  </a:lnTo>
                  <a:lnTo>
                    <a:pt x="29348" y="29344"/>
                  </a:lnTo>
                  <a:lnTo>
                    <a:pt x="34001" y="24691"/>
                  </a:lnTo>
                  <a:lnTo>
                    <a:pt x="39062" y="20538"/>
                  </a:lnTo>
                  <a:lnTo>
                    <a:pt x="44533" y="16884"/>
                  </a:lnTo>
                  <a:lnTo>
                    <a:pt x="50003" y="13227"/>
                  </a:lnTo>
                  <a:lnTo>
                    <a:pt x="55778" y="10141"/>
                  </a:lnTo>
                  <a:lnTo>
                    <a:pt x="93623" y="0"/>
                  </a:lnTo>
                  <a:lnTo>
                    <a:pt x="100203" y="0"/>
                  </a:lnTo>
                  <a:lnTo>
                    <a:pt x="4909946" y="0"/>
                  </a:lnTo>
                  <a:lnTo>
                    <a:pt x="4916525" y="0"/>
                  </a:lnTo>
                  <a:lnTo>
                    <a:pt x="4923041" y="641"/>
                  </a:lnTo>
                  <a:lnTo>
                    <a:pt x="4960143" y="13227"/>
                  </a:lnTo>
                  <a:lnTo>
                    <a:pt x="4980799" y="29342"/>
                  </a:lnTo>
                  <a:lnTo>
                    <a:pt x="4985451" y="33995"/>
                  </a:lnTo>
                  <a:lnTo>
                    <a:pt x="4989606" y="39055"/>
                  </a:lnTo>
                  <a:lnTo>
                    <a:pt x="4993260" y="44525"/>
                  </a:lnTo>
                  <a:lnTo>
                    <a:pt x="4996916" y="49996"/>
                  </a:lnTo>
                  <a:lnTo>
                    <a:pt x="5000003" y="55773"/>
                  </a:lnTo>
                  <a:lnTo>
                    <a:pt x="5002520" y="61852"/>
                  </a:lnTo>
                  <a:lnTo>
                    <a:pt x="5005037" y="67930"/>
                  </a:lnTo>
                  <a:lnTo>
                    <a:pt x="5006938" y="74197"/>
                  </a:lnTo>
                  <a:lnTo>
                    <a:pt x="5008223" y="80651"/>
                  </a:lnTo>
                  <a:lnTo>
                    <a:pt x="5009508" y="87104"/>
                  </a:lnTo>
                  <a:lnTo>
                    <a:pt x="5010150" y="93622"/>
                  </a:lnTo>
                  <a:lnTo>
                    <a:pt x="5010150" y="100202"/>
                  </a:lnTo>
                  <a:lnTo>
                    <a:pt x="5010150" y="5186171"/>
                  </a:lnTo>
                  <a:lnTo>
                    <a:pt x="5010150" y="5192752"/>
                  </a:lnTo>
                  <a:lnTo>
                    <a:pt x="5009508" y="5199268"/>
                  </a:lnTo>
                  <a:lnTo>
                    <a:pt x="5008223" y="5205718"/>
                  </a:lnTo>
                  <a:lnTo>
                    <a:pt x="5006938" y="5212170"/>
                  </a:lnTo>
                  <a:lnTo>
                    <a:pt x="5005037" y="5218434"/>
                  </a:lnTo>
                  <a:lnTo>
                    <a:pt x="5002520" y="5224513"/>
                  </a:lnTo>
                  <a:lnTo>
                    <a:pt x="5000003" y="5230592"/>
                  </a:lnTo>
                  <a:lnTo>
                    <a:pt x="4996916" y="5236363"/>
                  </a:lnTo>
                  <a:lnTo>
                    <a:pt x="4993260" y="5241832"/>
                  </a:lnTo>
                  <a:lnTo>
                    <a:pt x="4989606" y="5247306"/>
                  </a:lnTo>
                  <a:lnTo>
                    <a:pt x="4960145" y="5273138"/>
                  </a:lnTo>
                  <a:lnTo>
                    <a:pt x="4948291" y="5278742"/>
                  </a:lnTo>
                  <a:lnTo>
                    <a:pt x="4942213" y="5281258"/>
                  </a:lnTo>
                  <a:lnTo>
                    <a:pt x="4935947" y="5283160"/>
                  </a:lnTo>
                  <a:lnTo>
                    <a:pt x="4929494" y="5284440"/>
                  </a:lnTo>
                  <a:lnTo>
                    <a:pt x="4923041" y="5285727"/>
                  </a:lnTo>
                  <a:lnTo>
                    <a:pt x="4916525" y="5286369"/>
                  </a:lnTo>
                  <a:lnTo>
                    <a:pt x="4909946" y="5286374"/>
                  </a:lnTo>
                  <a:lnTo>
                    <a:pt x="100203" y="5286374"/>
                  </a:lnTo>
                  <a:lnTo>
                    <a:pt x="93623" y="5286369"/>
                  </a:lnTo>
                  <a:lnTo>
                    <a:pt x="87107" y="5285727"/>
                  </a:lnTo>
                  <a:lnTo>
                    <a:pt x="80654" y="5284440"/>
                  </a:lnTo>
                  <a:lnTo>
                    <a:pt x="74201" y="5283160"/>
                  </a:lnTo>
                  <a:lnTo>
                    <a:pt x="67935" y="5281258"/>
                  </a:lnTo>
                  <a:lnTo>
                    <a:pt x="61856" y="5278742"/>
                  </a:lnTo>
                  <a:lnTo>
                    <a:pt x="55778" y="5276226"/>
                  </a:lnTo>
                  <a:lnTo>
                    <a:pt x="24696" y="5252367"/>
                  </a:lnTo>
                  <a:lnTo>
                    <a:pt x="16887" y="5241832"/>
                  </a:lnTo>
                  <a:lnTo>
                    <a:pt x="13231" y="5236363"/>
                  </a:lnTo>
                  <a:lnTo>
                    <a:pt x="10145" y="5230592"/>
                  </a:lnTo>
                  <a:lnTo>
                    <a:pt x="7627" y="5224513"/>
                  </a:lnTo>
                  <a:lnTo>
                    <a:pt x="5109" y="5218434"/>
                  </a:lnTo>
                  <a:lnTo>
                    <a:pt x="3208" y="5212170"/>
                  </a:lnTo>
                  <a:lnTo>
                    <a:pt x="1925" y="5205718"/>
                  </a:lnTo>
                  <a:lnTo>
                    <a:pt x="641" y="5199268"/>
                  </a:lnTo>
                  <a:lnTo>
                    <a:pt x="0" y="5192752"/>
                  </a:lnTo>
                  <a:lnTo>
                    <a:pt x="0" y="5186171"/>
                  </a:lnTo>
                  <a:close/>
                </a:path>
              </a:pathLst>
            </a:custGeom>
            <a:grpFill/>
            <a:ln w="19049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29257717" name="object 15"/>
          <p:cNvSpPr txBox="1"/>
          <p:nvPr/>
        </p:nvSpPr>
        <p:spPr bwMode="auto">
          <a:xfrm flipH="0" flipV="0">
            <a:off x="6362590" y="1231148"/>
            <a:ext cx="5064440" cy="5437638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>
                <a:solidFill>
                  <a:srgbClr val="D97705"/>
                </a:solidFill>
                <a:latin typeface="Malgun Gothic"/>
                <a:cs typeface="Malgun Gothic"/>
              </a:rPr>
              <a:t>FEM·다물체</a:t>
            </a:r>
            <a:r>
              <a:rPr sz="1400" b="1" spc="-10">
                <a:solidFill>
                  <a:srgbClr val="D97705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D97705"/>
                </a:solidFill>
                <a:latin typeface="Malgun Gothic"/>
                <a:cs typeface="Malgun Gothic"/>
              </a:rPr>
              <a:t>동역학</a:t>
            </a:r>
            <a:r>
              <a:rPr sz="1400" b="1" spc="-5">
                <a:solidFill>
                  <a:srgbClr val="D97705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D97705"/>
                </a:solidFill>
                <a:latin typeface="Malgun Gothic"/>
                <a:cs typeface="Malgun Gothic"/>
              </a:rPr>
              <a:t>관점에서의</a:t>
            </a:r>
            <a:r>
              <a:rPr sz="1400" b="1" spc="-10">
                <a:solidFill>
                  <a:srgbClr val="D97705"/>
                </a:solidFill>
                <a:latin typeface="Malgun Gothic"/>
                <a:cs typeface="Malgun Gothic"/>
              </a:rPr>
              <a:t> </a:t>
            </a:r>
            <a:r>
              <a:rPr sz="1400" b="1" spc="-25">
                <a:solidFill>
                  <a:srgbClr val="D97705"/>
                </a:solidFill>
                <a:latin typeface="Malgun Gothic"/>
                <a:cs typeface="Malgun Gothic"/>
              </a:rPr>
              <a:t>의미</a:t>
            </a:r>
            <a:endParaRPr sz="1400" b="1" spc="-24">
              <a:solidFill>
                <a:srgbClr val="D97705"/>
              </a:solidFill>
              <a:latin typeface="Malgun Gothic"/>
              <a:cs typeface="Malgun Gothic"/>
            </a:endParaRPr>
          </a:p>
          <a:p>
            <a:pPr marL="63499">
              <a:lnSpc>
                <a:spcPct val="100000"/>
              </a:lnSpc>
              <a:spcBef>
                <a:spcPts val="99"/>
              </a:spcBef>
              <a:defRPr/>
            </a:pPr>
            <a:endParaRPr sz="1400">
              <a:latin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29600"/>
              </a:lnSpc>
              <a:spcBef>
                <a:spcPts val="59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tabLst>
                <a:tab pos="2833370" algn="l"/>
              </a:tabLst>
              <a:defRPr/>
            </a:pP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다물체 동역학의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 strike="noStrike" cap="none" spc="-10">
                <a:solidFill>
                  <a:srgbClr val="1F242F"/>
                </a:solidFill>
                <a:latin typeface="Malgun Gothic"/>
                <a:cs typeface="Malgun Gothic"/>
              </a:rPr>
              <a:t>index-</a:t>
            </a:r>
            <a:r>
              <a:rPr sz="1200" b="1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3</a:t>
            </a:r>
            <a:r>
              <a:rPr sz="1200" b="1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DAE </a:t>
            </a:r>
            <a:r>
              <a:rPr sz="1200" strike="noStrike" cap="none" spc="125">
                <a:solidFill>
                  <a:srgbClr val="1F242F"/>
                </a:solidFill>
                <a:latin typeface="Malgun Gothic"/>
                <a:cs typeface="Malgun Gothic"/>
              </a:rPr>
              <a:t>(</a:t>
            </a:r>
            <a:r>
              <a:rPr sz="1300" strike="noStrike" cap="none" spc="125">
                <a:solidFill>
                  <a:srgbClr val="1F242F"/>
                </a:solidFill>
                <a:latin typeface="Trebuchet MS"/>
                <a:cs typeface="Trebuchet MS"/>
              </a:rPr>
              <a:t>M</a:t>
            </a:r>
            <a:r>
              <a:rPr sz="1250" strike="noStrike" cap="none" spc="125">
                <a:solidFill>
                  <a:srgbClr val="1F242F"/>
                </a:solidFill>
                <a:latin typeface="Verdana"/>
                <a:cs typeface="Verdana"/>
              </a:rPr>
              <a:t>·</a:t>
            </a:r>
            <a:r>
              <a:rPr sz="1350" strike="noStrike" cap="none" spc="-555">
                <a:solidFill>
                  <a:srgbClr val="1F242F"/>
                </a:solidFill>
                <a:latin typeface="Trebuchet MS"/>
                <a:cs typeface="Trebuchet MS"/>
              </a:rPr>
              <a:t>x</a:t>
            </a:r>
            <a:r>
              <a:rPr sz="1150" strike="noStrike" cap="none" spc="125">
                <a:solidFill>
                  <a:srgbClr val="1F242F"/>
                </a:solidFill>
                <a:latin typeface="Arial"/>
                <a:cs typeface="Arial"/>
              </a:rPr>
              <a:t>̈</a:t>
            </a:r>
            <a:r>
              <a:rPr sz="1150" strike="noStrike" cap="none">
                <a:solidFill>
                  <a:srgbClr val="1F242F"/>
                </a:solidFill>
                <a:latin typeface="Arial"/>
                <a:cs typeface="Arial"/>
              </a:rPr>
              <a:t>	</a:t>
            </a:r>
            <a:r>
              <a:rPr sz="1250" strike="noStrike" cap="none" spc="75">
                <a:solidFill>
                  <a:srgbClr val="1F242F"/>
                </a:solidFill>
                <a:latin typeface="Calibri"/>
                <a:cs typeface="Calibri"/>
              </a:rPr>
              <a:t>=</a:t>
            </a:r>
            <a:r>
              <a:rPr sz="1250" strike="noStrike" cap="none" spc="405">
                <a:solidFill>
                  <a:srgbClr val="1F242F"/>
                </a:solidFill>
                <a:latin typeface="Calibri"/>
                <a:cs typeface="Calibri"/>
              </a:rPr>
              <a:t> </a:t>
            </a:r>
            <a:r>
              <a:rPr sz="1350" strike="noStrike" cap="none" spc="210">
                <a:solidFill>
                  <a:srgbClr val="1F242F"/>
                </a:solidFill>
                <a:latin typeface="Trebuchet MS"/>
                <a:cs typeface="Trebuchet MS"/>
              </a:rPr>
              <a:t>f</a:t>
            </a:r>
            <a:r>
              <a:rPr sz="1350" strike="noStrike" cap="none" spc="285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250" strike="noStrike" cap="none" spc="75">
                <a:solidFill>
                  <a:srgbClr val="1F242F"/>
                </a:solidFill>
                <a:latin typeface="Calibri"/>
                <a:cs typeface="Calibri"/>
              </a:rPr>
              <a:t>+</a:t>
            </a:r>
            <a:r>
              <a:rPr sz="1250" strike="noStrike" cap="none" spc="408">
                <a:solidFill>
                  <a:srgbClr val="1F242F"/>
                </a:solidFill>
                <a:latin typeface="Calibri"/>
                <a:cs typeface="Calibri"/>
              </a:rPr>
              <a:t> </a:t>
            </a:r>
            <a:r>
              <a:rPr sz="1200" strike="noStrike" cap="none" spc="60">
                <a:solidFill>
                  <a:srgbClr val="1F242F"/>
                </a:solidFill>
                <a:latin typeface="GulimChe"/>
                <a:cs typeface="GulimChe"/>
              </a:rPr>
              <a:t>∇</a:t>
            </a:r>
            <a:r>
              <a:rPr sz="1300" strike="noStrike" cap="none" spc="60">
                <a:solidFill>
                  <a:srgbClr val="1F242F"/>
                </a:solidFill>
                <a:latin typeface="Trebuchet MS"/>
                <a:cs typeface="Trebuchet MS"/>
              </a:rPr>
              <a:t>C</a:t>
            </a:r>
            <a:r>
              <a:rPr sz="1200" strike="noStrike" cap="none" spc="60">
                <a:solidFill>
                  <a:srgbClr val="1F242F"/>
                </a:solidFill>
                <a:latin typeface="Consolas"/>
                <a:cs typeface="Consolas"/>
              </a:rPr>
              <a:t>ᵀ</a:t>
            </a:r>
            <a:r>
              <a:rPr sz="1250" strike="noStrike" cap="none" spc="60">
                <a:solidFill>
                  <a:srgbClr val="1F242F"/>
                </a:solidFill>
                <a:latin typeface="Verdana"/>
                <a:cs typeface="Verdana"/>
              </a:rPr>
              <a:t>·λ,</a:t>
            </a:r>
            <a:r>
              <a:rPr sz="1250" strike="noStrike" cap="none" spc="245">
                <a:solidFill>
                  <a:srgbClr val="1F242F"/>
                </a:solidFill>
                <a:latin typeface="Verdana"/>
                <a:cs typeface="Verdana"/>
              </a:rPr>
              <a:t> </a:t>
            </a:r>
            <a:r>
              <a:rPr sz="1300" strike="noStrike" cap="none">
                <a:solidFill>
                  <a:srgbClr val="1F242F"/>
                </a:solidFill>
                <a:latin typeface="Trebuchet MS"/>
                <a:cs typeface="Trebuchet MS"/>
              </a:rPr>
              <a:t>C</a:t>
            </a:r>
            <a:r>
              <a:rPr sz="1300" strike="noStrike" cap="none" spc="290">
                <a:solidFill>
                  <a:srgbClr val="1F242F"/>
                </a:solidFill>
                <a:latin typeface="Trebuchet MS"/>
                <a:cs typeface="Trebuchet MS"/>
              </a:rPr>
              <a:t> </a:t>
            </a:r>
            <a:r>
              <a:rPr sz="1250" strike="noStrike" cap="none" spc="75">
                <a:solidFill>
                  <a:srgbClr val="1F242F"/>
                </a:solidFill>
                <a:latin typeface="Calibri"/>
                <a:cs typeface="Calibri"/>
              </a:rPr>
              <a:t>=</a:t>
            </a:r>
            <a:r>
              <a:rPr sz="1250" strike="noStrike" cap="none" spc="408">
                <a:solidFill>
                  <a:srgbClr val="1F242F"/>
                </a:solidFill>
                <a:latin typeface="Calibri"/>
                <a:cs typeface="Calibri"/>
              </a:rPr>
              <a:t> </a:t>
            </a:r>
            <a:r>
              <a:rPr sz="1250" strike="noStrike" cap="none" spc="-50">
                <a:solidFill>
                  <a:srgbClr val="1F242F"/>
                </a:solidFill>
                <a:latin typeface="Verdana"/>
                <a:cs typeface="Verdana"/>
              </a:rPr>
              <a:t>0</a:t>
            </a:r>
            <a:r>
              <a:rPr sz="1200" strike="noStrike" cap="none" spc="-50">
                <a:solidFill>
                  <a:srgbClr val="1F242F"/>
                </a:solidFill>
                <a:latin typeface="Malgun Gothic"/>
                <a:cs typeface="Malgun Gothic"/>
              </a:rPr>
              <a:t>)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를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시간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이산화 후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비선형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 spc="-10">
                <a:solidFill>
                  <a:srgbClr val="1F242F"/>
                </a:solidFill>
                <a:latin typeface="Malgun Gothic"/>
                <a:cs typeface="Malgun Gothic"/>
              </a:rPr>
              <a:t>Gauss–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Seidel로 푸는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 spc="-50">
                <a:solidFill>
                  <a:srgbClr val="1F242F"/>
                </a:solidFill>
                <a:latin typeface="Malgun Gothic"/>
                <a:cs typeface="Malgun Gothic"/>
              </a:rPr>
              <a:t>것</a:t>
            </a:r>
            <a:endParaRPr sz="1200" strike="noStrike" cap="none">
              <a:latin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35400"/>
              </a:lnSpc>
              <a:spcBef>
                <a:spcPts val="75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강성이 </a:t>
            </a:r>
            <a:r>
              <a:rPr sz="1200" b="1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반복</a:t>
            </a:r>
            <a:r>
              <a:rPr sz="1200" b="1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횟수·Δt에</a:t>
            </a:r>
            <a:r>
              <a:rPr sz="1200" b="1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독립</a:t>
            </a:r>
            <a:r>
              <a:rPr sz="1200" b="1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→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반복을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늘리면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음해법의</a:t>
            </a:r>
            <a:r>
              <a:rPr sz="1200" strike="noStrike" cap="none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 spc="-25">
                <a:solidFill>
                  <a:srgbClr val="1F242F"/>
                </a:solidFill>
                <a:latin typeface="Malgun Gothic"/>
                <a:cs typeface="Malgun Gothic"/>
              </a:rPr>
              <a:t>정해로 수렴</a:t>
            </a:r>
            <a:endParaRPr sz="1200" strike="noStrike" cap="none">
              <a:latin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51000"/>
              </a:lnSpc>
              <a:spcBef>
                <a:spcPts val="45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α</a:t>
            </a:r>
            <a:r>
              <a:rPr sz="1200" strike="noStrike" cap="none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는 재료 물성과 직접 대응 (거리 구속이면 α = </a:t>
            </a:r>
            <a:r>
              <a:rPr sz="1200" strike="noStrike" cap="none" spc="-10">
                <a:solidFill>
                  <a:srgbClr val="1F242F"/>
                </a:solidFill>
                <a:latin typeface="Malgun Gothic"/>
                <a:cs typeface="Malgun Gothic"/>
              </a:rPr>
              <a:t>1/k</a:t>
            </a:r>
            <a:r>
              <a:rPr sz="1500" strike="noStrike" cap="none" spc="-15">
                <a:solidFill>
                  <a:srgbClr val="1F242F"/>
                </a:solidFill>
                <a:latin typeface="Malgun Gothic"/>
                <a:cs typeface="Malgun Gothic"/>
              </a:rPr>
              <a:t>spring </a:t>
            </a:r>
            <a:r>
              <a:rPr sz="1200" strike="noStrike" cap="none" spc="-10">
                <a:solidFill>
                  <a:srgbClr val="1F242F"/>
                </a:solidFill>
                <a:latin typeface="Malgun Gothic"/>
                <a:cs typeface="Malgun Gothic"/>
              </a:rPr>
              <a:t>[m/N])</a:t>
            </a:r>
            <a:endParaRPr sz="1200" strike="noStrike" cap="none">
              <a:latin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0"/>
              </a:lnSpc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누적된</a:t>
            </a:r>
            <a:r>
              <a:rPr sz="1200" strike="noStrike" cap="none" spc="4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λ</a:t>
            </a:r>
            <a:r>
              <a:rPr sz="1200" strike="noStrike" cap="none" spc="-4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에서 </a:t>
            </a:r>
            <a:r>
              <a:rPr sz="1200" b="1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구속 반력을 직접 회수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: f</a:t>
            </a:r>
            <a:r>
              <a:rPr sz="15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c</a:t>
            </a:r>
            <a:r>
              <a:rPr sz="1500" strike="noStrike" cap="none" spc="103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trike="noStrike" cap="none">
                <a:solidFill>
                  <a:srgbClr val="1F242F"/>
                </a:solidFill>
                <a:latin typeface="Malgun Gothic"/>
                <a:cs typeface="Malgun Gothic"/>
              </a:rPr>
              <a:t>= </a:t>
            </a:r>
            <a:r>
              <a:rPr sz="1200" strike="noStrike" cap="none" spc="-9">
                <a:solidFill>
                  <a:srgbClr val="1F242F"/>
                </a:solidFill>
                <a:latin typeface="Malgun Gothic"/>
                <a:cs typeface="Malgun Gothic"/>
              </a:rPr>
              <a:t>∇C</a:t>
            </a:r>
            <a:r>
              <a:rPr sz="1200" strike="noStrike" cap="none" spc="-9">
                <a:solidFill>
                  <a:srgbClr val="1F242F"/>
                </a:solidFill>
                <a:latin typeface="Times New Roman"/>
                <a:cs typeface="Times New Roman"/>
              </a:rPr>
              <a:t>ᵀ</a:t>
            </a:r>
            <a:r>
              <a:rPr sz="1200" strike="noStrike" cap="none" spc="-9">
                <a:solidFill>
                  <a:srgbClr val="1F242F"/>
                </a:solidFill>
                <a:latin typeface="Malgun Gothic"/>
                <a:cs typeface="Malgun Gothic"/>
              </a:rPr>
              <a:t>·λ/Δt² </a:t>
            </a:r>
            <a:endParaRPr lang="en-US" sz="1200" b="0" i="0" u="none" strike="noStrike" cap="none" spc="-9">
              <a:solidFill>
                <a:srgbClr val="1F242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/>
            </a:pPr>
            <a:endParaRPr lang="en-US" sz="1200" b="0" i="0" u="none" strike="noStrike" cap="none" spc="-9">
              <a:solidFill>
                <a:srgbClr val="1F242F"/>
              </a:solidFill>
              <a:latin typeface="Malgun Gothic"/>
              <a:ea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r>
              <a:rPr lang="en-US" sz="1200" b="0" i="0" u="none" strike="noStrike" cap="none" spc="-9">
                <a:solidFill>
                  <a:srgbClr val="1F242F"/>
                </a:solidFill>
                <a:latin typeface="Malgun Gothic"/>
                <a:ea typeface="Malgun Gothic"/>
                <a:cs typeface="Malgun Gothic"/>
              </a:rPr>
              <a:t>α (컴플라이언스) = "이 구속이 얼마나 늘어나도 되는가" — 재료의 말랑함을 나타내는 입력값. α = 0이면 절대 늘어나지 않는 강체 구속, 클수록 부드러운 재료</a:t>
            </a:r>
            <a:endParaRPr sz="1200" b="0" i="0" u="none" strike="noStrike" cap="none" spc="-9">
              <a:solidFill>
                <a:srgbClr val="1F242F"/>
              </a:solidFill>
              <a:latin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endParaRPr sz="1200" b="0" i="0" u="none" strike="noStrike" cap="none" spc="-9">
              <a:solidFill>
                <a:srgbClr val="1F242F"/>
              </a:solidFill>
              <a:latin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r>
              <a:rPr lang="en-US" sz="1200" b="0" i="0" u="none" strike="noStrike" cap="none" spc="-9">
                <a:solidFill>
                  <a:srgbClr val="1F242F"/>
                </a:solidFill>
                <a:latin typeface="Malgun Gothic"/>
                <a:ea typeface="Malgun Gothic"/>
                <a:cs typeface="Malgun Gothic"/>
              </a:rPr>
              <a:t>λ (라그랑주 승수) = "이 구속이 실제로 얼마나 세게 당겼는가" — 반복 중에 누적되는 출력값. 밧줄로 치면 장력에 해당</a:t>
            </a:r>
            <a:endParaRPr sz="1200" b="0" i="0" u="none" strike="noStrike" cap="none" spc="-9">
              <a:solidFill>
                <a:srgbClr val="1F242F"/>
              </a:solidFill>
              <a:latin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endParaRPr sz="1200" b="0" i="0" u="none" strike="noStrike" cap="none" spc="-9">
              <a:solidFill>
                <a:srgbClr val="1F242F"/>
              </a:solidFill>
              <a:latin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r>
              <a:rPr lang="en-US" sz="1200" b="0" i="0" u="none" strike="noStrike" cap="none" spc="-9">
                <a:solidFill>
                  <a:srgbClr val="1F242F"/>
                </a:solidFill>
                <a:latin typeface="Malgun Gothic"/>
                <a:ea typeface="Malgun Gothic"/>
                <a:cs typeface="Malgun Gothic"/>
              </a:rPr>
              <a:t>두 값을 잇는 규칙이 C + α̃·λ = 0 — "세게 당겨지고 있는 만큼(λ) 늘어남(C)을 허용한다". 스프링의 훅 법칙을 힘이 아니라 구속의 성질로 표현한 것</a:t>
            </a:r>
            <a:endParaRPr sz="1200" b="0" i="0" u="none" strike="noStrike" cap="none" spc="-9">
              <a:solidFill>
                <a:srgbClr val="1F242F"/>
              </a:solidFill>
              <a:latin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endParaRPr sz="1200" b="0" i="0" u="none" strike="noStrike" cap="none" spc="-9">
              <a:solidFill>
                <a:srgbClr val="1F242F"/>
              </a:solidFill>
              <a:latin typeface="Malgun Gothic"/>
              <a:ea typeface="Malgun Gothic"/>
              <a:cs typeface="Malgun Gothic"/>
            </a:endParaRPr>
          </a:p>
          <a:p>
            <a:pPr marL="217793" marR="0" indent="-217793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Font typeface="Abyssinica SIL"/>
              <a:buChar char="▸"/>
              <a:defRPr/>
            </a:pPr>
            <a:r>
              <a:rPr lang="en-US" sz="1200" b="0" i="0" u="none" strike="noStrike" cap="none" spc="-9">
                <a:solidFill>
                  <a:srgbClr val="1F242F"/>
                </a:solidFill>
                <a:latin typeface="Malgun Gothic"/>
                <a:ea typeface="Malgun Gothic"/>
                <a:cs typeface="Malgun Gothic"/>
              </a:rPr>
              <a:t>강성 k를 곱하는 대신 그 역수 α를 분모에 더하는 구조라, 재료가 아무리 뻣뻣해져도(k—&gt;∞) α —&gt; 0이 될 뿐 — 큰 수가 식에 등장하지 않아 수치적으로 안전</a:t>
            </a:r>
            <a:endParaRPr lang="en-US" sz="1200" b="0" i="0" u="none" strike="noStrike" cap="none" spc="-9">
              <a:solidFill>
                <a:srgbClr val="1F242F"/>
              </a:solidFill>
              <a:latin typeface="Malgun Gothic"/>
              <a:cs typeface="Malgun Gothic"/>
            </a:endParaRPr>
          </a:p>
          <a:p>
            <a:pPr marL="281293" indent="-217793">
              <a:lnSpc>
                <a:spcPct val="100000"/>
              </a:lnSpc>
              <a:spcBef>
                <a:spcPts val="1259"/>
              </a:spcBef>
              <a:buFont typeface="Arial"/>
              <a:buChar char="•"/>
              <a:defRPr/>
            </a:pPr>
            <a:endParaRPr sz="1200">
              <a:latin typeface="Malgun Gothic"/>
              <a:cs typeface="Malgun Gothic"/>
            </a:endParaRPr>
          </a:p>
          <a:p>
            <a:pPr marL="63499">
              <a:lnSpc>
                <a:spcPct val="100000"/>
              </a:lnSpc>
              <a:spcBef>
                <a:spcPts val="1259"/>
              </a:spcBef>
              <a:defRPr/>
            </a:pPr>
            <a:endParaRPr sz="1200">
              <a:latin typeface="Malgun Gothic"/>
              <a:cs typeface="Malgun Gothic"/>
            </a:endParaRPr>
          </a:p>
        </p:txBody>
      </p:sp>
      <p:sp>
        <p:nvSpPr>
          <p:cNvPr id="1669727658" name="object 1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130796283" name="object 1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2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  <p:pic>
        <p:nvPicPr>
          <p:cNvPr id="17577084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32350" y="2833267"/>
            <a:ext cx="5119863" cy="1658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69505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구현</a:t>
            </a:r>
            <a:r>
              <a:rPr spc="-25"/>
              <a:t> </a:t>
            </a:r>
            <a:r>
              <a:rPr/>
              <a:t>—</a:t>
            </a:r>
            <a:r>
              <a:rPr spc="-25"/>
              <a:t> </a:t>
            </a:r>
            <a:r>
              <a:rPr/>
              <a:t>PBD/XPBD</a:t>
            </a:r>
            <a:r>
              <a:rPr spc="-20"/>
              <a:t> </a:t>
            </a:r>
            <a:r>
              <a:rPr/>
              <a:t>Cloth</a:t>
            </a:r>
            <a:r>
              <a:rPr spc="-25"/>
              <a:t> </a:t>
            </a:r>
            <a:r>
              <a:rPr spc="-10"/>
              <a:t>Simulator</a:t>
            </a:r>
            <a:endParaRPr/>
          </a:p>
        </p:txBody>
      </p:sp>
      <p:sp>
        <p:nvSpPr>
          <p:cNvPr id="275657485" name="object 3"/>
          <p:cNvSpPr txBox="1"/>
          <p:nvPr/>
        </p:nvSpPr>
        <p:spPr bwMode="auto">
          <a:xfrm>
            <a:off x="764480" y="1070597"/>
            <a:ext cx="4873625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100"/>
              </a:spcBef>
              <a:defRPr/>
            </a:pP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천</a:t>
            </a:r>
            <a:r>
              <a:rPr sz="14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=</a:t>
            </a:r>
            <a:r>
              <a:rPr sz="14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절점(입자)</a:t>
            </a:r>
            <a:r>
              <a:rPr sz="14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+</a:t>
            </a:r>
            <a:r>
              <a:rPr sz="14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거리</a:t>
            </a:r>
            <a:r>
              <a:rPr sz="14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구속</a:t>
            </a:r>
            <a:r>
              <a:rPr sz="14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3종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—</a:t>
            </a:r>
            <a:r>
              <a:rPr sz="14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연속체</a:t>
            </a:r>
            <a:r>
              <a:rPr sz="14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구성방정식</a:t>
            </a:r>
            <a:r>
              <a:rPr sz="14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 spc="-25">
                <a:solidFill>
                  <a:srgbClr val="1F242F"/>
                </a:solidFill>
                <a:latin typeface="Malgun Gothic"/>
                <a:cs typeface="Malgun Gothic"/>
              </a:rPr>
              <a:t>없이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이산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구속으로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직접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 spc="-25">
                <a:solidFill>
                  <a:srgbClr val="1F242F"/>
                </a:solidFill>
                <a:latin typeface="Malgun Gothic"/>
                <a:cs typeface="Malgun Gothic"/>
              </a:rPr>
              <a:t>모델링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27870900" name="object 4"/>
          <p:cNvGrpSpPr/>
          <p:nvPr/>
        </p:nvGrpSpPr>
        <p:grpSpPr bwMode="auto">
          <a:xfrm>
            <a:off x="2004126" y="1907087"/>
            <a:ext cx="2381885" cy="1661160"/>
            <a:chOff x="2004126" y="1907087"/>
            <a:chExt cx="2381885" cy="1661160"/>
          </a:xfrm>
        </p:grpSpPr>
        <p:sp>
          <p:nvSpPr>
            <p:cNvPr id="5" name="object 5"/>
            <p:cNvSpPr/>
            <p:nvPr/>
          </p:nvSpPr>
          <p:spPr bwMode="auto">
            <a:xfrm>
              <a:off x="2150521" y="2053417"/>
              <a:ext cx="2163445" cy="1442720"/>
            </a:xfrm>
            <a:custGeom>
              <a:avLst/>
              <a:gdLst/>
              <a:ahLst/>
              <a:cxnLst/>
              <a:rect l="l" t="t" r="r" b="b"/>
              <a:pathLst>
                <a:path w="2163445" h="1442720" fill="norm" stroke="1" extrusionOk="0">
                  <a:moveTo>
                    <a:pt x="0" y="0"/>
                  </a:moveTo>
                  <a:lnTo>
                    <a:pt x="2163158" y="0"/>
                  </a:lnTo>
                </a:path>
                <a:path w="2163445" h="1442720" fill="norm" stroke="1" extrusionOk="0">
                  <a:moveTo>
                    <a:pt x="0" y="721052"/>
                  </a:moveTo>
                  <a:lnTo>
                    <a:pt x="2163158" y="721052"/>
                  </a:lnTo>
                </a:path>
                <a:path w="2163445" h="1442720" fill="norm" stroke="1" extrusionOk="0">
                  <a:moveTo>
                    <a:pt x="0" y="1442105"/>
                  </a:moveTo>
                  <a:lnTo>
                    <a:pt x="2163158" y="1442105"/>
                  </a:lnTo>
                </a:path>
                <a:path w="2163445" h="1442720" fill="norm" stroke="1" extrusionOk="0">
                  <a:moveTo>
                    <a:pt x="0" y="0"/>
                  </a:moveTo>
                  <a:lnTo>
                    <a:pt x="0" y="1442105"/>
                  </a:lnTo>
                </a:path>
                <a:path w="2163445" h="1442720" fill="norm" stroke="1" extrusionOk="0">
                  <a:moveTo>
                    <a:pt x="1081579" y="0"/>
                  </a:moveTo>
                  <a:lnTo>
                    <a:pt x="1081579" y="1442105"/>
                  </a:lnTo>
                </a:path>
                <a:path w="2163445" h="1442720" fill="norm" stroke="1" extrusionOk="0">
                  <a:moveTo>
                    <a:pt x="2163158" y="0"/>
                  </a:moveTo>
                  <a:lnTo>
                    <a:pt x="2163158" y="1442105"/>
                  </a:lnTo>
                </a:path>
              </a:pathLst>
            </a:custGeom>
            <a:grpFill/>
            <a:ln w="27039">
              <a:solidFill>
                <a:srgbClr val="2562EB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2150521" y="2053417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1081579" y="721052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2150521" y="2053417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0" y="0"/>
                  </a:moveTo>
                  <a:lnTo>
                    <a:pt x="1081579" y="721052"/>
                  </a:lnTo>
                </a:path>
              </a:pathLst>
            </a:custGeom>
            <a:grpFill/>
            <a:ln w="22532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2150521" y="2053417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0" y="721052"/>
                  </a:moveTo>
                  <a:lnTo>
                    <a:pt x="1081579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2150521" y="2053417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1081579" y="0"/>
                  </a:moveTo>
                  <a:lnTo>
                    <a:pt x="0" y="721052"/>
                  </a:lnTo>
                </a:path>
              </a:pathLst>
            </a:custGeom>
            <a:grpFill/>
            <a:ln w="22532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3232100" y="2053417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1081579" y="721052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/>
            <p:cNvSpPr/>
            <p:nvPr/>
          </p:nvSpPr>
          <p:spPr bwMode="auto">
            <a:xfrm>
              <a:off x="3232100" y="2053417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0" y="0"/>
                  </a:moveTo>
                  <a:lnTo>
                    <a:pt x="1081579" y="721052"/>
                  </a:lnTo>
                </a:path>
              </a:pathLst>
            </a:custGeom>
            <a:grpFill/>
            <a:ln w="22532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3232100" y="2053417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0" y="721052"/>
                  </a:moveTo>
                  <a:lnTo>
                    <a:pt x="1081579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" name="object 13"/>
            <p:cNvSpPr/>
            <p:nvPr/>
          </p:nvSpPr>
          <p:spPr bwMode="auto">
            <a:xfrm>
              <a:off x="3232100" y="2053417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1081579" y="0"/>
                  </a:moveTo>
                  <a:lnTo>
                    <a:pt x="0" y="721052"/>
                  </a:lnTo>
                </a:path>
              </a:pathLst>
            </a:custGeom>
            <a:grpFill/>
            <a:ln w="22532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/>
            <p:cNvSpPr/>
            <p:nvPr/>
          </p:nvSpPr>
          <p:spPr bwMode="auto">
            <a:xfrm>
              <a:off x="2150521" y="2774469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1081579" y="721052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" name="object 15"/>
            <p:cNvSpPr/>
            <p:nvPr/>
          </p:nvSpPr>
          <p:spPr bwMode="auto">
            <a:xfrm>
              <a:off x="2150521" y="2774469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0" y="0"/>
                  </a:moveTo>
                  <a:lnTo>
                    <a:pt x="1081579" y="721052"/>
                  </a:lnTo>
                </a:path>
              </a:pathLst>
            </a:custGeom>
            <a:grpFill/>
            <a:ln w="22532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6" name="object 16"/>
            <p:cNvSpPr/>
            <p:nvPr/>
          </p:nvSpPr>
          <p:spPr bwMode="auto">
            <a:xfrm>
              <a:off x="2150521" y="2774469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0" y="721052"/>
                  </a:moveTo>
                  <a:lnTo>
                    <a:pt x="1081579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2150521" y="2774469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1081579" y="0"/>
                  </a:moveTo>
                  <a:lnTo>
                    <a:pt x="0" y="721052"/>
                  </a:lnTo>
                </a:path>
              </a:pathLst>
            </a:custGeom>
            <a:grpFill/>
            <a:ln w="22532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" name="object 18"/>
            <p:cNvSpPr/>
            <p:nvPr/>
          </p:nvSpPr>
          <p:spPr bwMode="auto">
            <a:xfrm>
              <a:off x="3232100" y="2774469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1081579" y="721052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9" name="object 19"/>
            <p:cNvSpPr/>
            <p:nvPr/>
          </p:nvSpPr>
          <p:spPr bwMode="auto">
            <a:xfrm>
              <a:off x="3232100" y="2774469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0" y="0"/>
                  </a:moveTo>
                  <a:lnTo>
                    <a:pt x="1081579" y="721052"/>
                  </a:lnTo>
                </a:path>
              </a:pathLst>
            </a:custGeom>
            <a:grpFill/>
            <a:ln w="22532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0" name="object 20"/>
            <p:cNvSpPr/>
            <p:nvPr/>
          </p:nvSpPr>
          <p:spPr bwMode="auto">
            <a:xfrm>
              <a:off x="3232100" y="2774469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0" y="721052"/>
                  </a:moveTo>
                  <a:lnTo>
                    <a:pt x="1081579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1" name="object 21"/>
            <p:cNvSpPr/>
            <p:nvPr/>
          </p:nvSpPr>
          <p:spPr bwMode="auto">
            <a:xfrm>
              <a:off x="3232100" y="2774469"/>
              <a:ext cx="1082040" cy="721360"/>
            </a:xfrm>
            <a:custGeom>
              <a:avLst/>
              <a:gdLst/>
              <a:ahLst/>
              <a:cxnLst/>
              <a:rect l="l" t="t" r="r" b="b"/>
              <a:pathLst>
                <a:path w="1082039" h="721360" fill="norm" stroke="1" extrusionOk="0">
                  <a:moveTo>
                    <a:pt x="1081579" y="0"/>
                  </a:moveTo>
                  <a:lnTo>
                    <a:pt x="0" y="721052"/>
                  </a:lnTo>
                </a:path>
              </a:pathLst>
            </a:custGeom>
            <a:grpFill/>
            <a:ln w="22532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2" name="object 22"/>
            <p:cNvSpPr/>
            <p:nvPr/>
          </p:nvSpPr>
          <p:spPr bwMode="auto">
            <a:xfrm>
              <a:off x="2004123" y="1907095"/>
              <a:ext cx="2308860" cy="1592580"/>
            </a:xfrm>
            <a:custGeom>
              <a:avLst/>
              <a:gdLst/>
              <a:ahLst/>
              <a:cxnLst/>
              <a:rect l="l" t="t" r="r" b="b"/>
              <a:pathLst>
                <a:path w="2308860" h="1592579" fill="norm" stroke="1" extrusionOk="0">
                  <a:moveTo>
                    <a:pt x="22821" y="904887"/>
                  </a:moveTo>
                  <a:lnTo>
                    <a:pt x="22567" y="887209"/>
                  </a:lnTo>
                  <a:lnTo>
                    <a:pt x="22529" y="850988"/>
                  </a:lnTo>
                  <a:lnTo>
                    <a:pt x="22758" y="833285"/>
                  </a:lnTo>
                  <a:lnTo>
                    <a:pt x="241" y="832878"/>
                  </a:lnTo>
                  <a:lnTo>
                    <a:pt x="228" y="833285"/>
                  </a:lnTo>
                  <a:lnTo>
                    <a:pt x="0" y="850988"/>
                  </a:lnTo>
                  <a:lnTo>
                    <a:pt x="25" y="887209"/>
                  </a:lnTo>
                  <a:lnTo>
                    <a:pt x="304" y="905332"/>
                  </a:lnTo>
                  <a:lnTo>
                    <a:pt x="22821" y="904887"/>
                  </a:lnTo>
                  <a:close/>
                </a:path>
                <a:path w="2308860" h="1592579" fill="norm" stroke="1" extrusionOk="0">
                  <a:moveTo>
                    <a:pt x="28384" y="716915"/>
                  </a:moveTo>
                  <a:lnTo>
                    <a:pt x="3327" y="752729"/>
                  </a:lnTo>
                  <a:lnTo>
                    <a:pt x="1574" y="787603"/>
                  </a:lnTo>
                  <a:lnTo>
                    <a:pt x="24091" y="788530"/>
                  </a:lnTo>
                  <a:lnTo>
                    <a:pt x="24130" y="787603"/>
                  </a:lnTo>
                  <a:lnTo>
                    <a:pt x="24968" y="769493"/>
                  </a:lnTo>
                  <a:lnTo>
                    <a:pt x="25984" y="751370"/>
                  </a:lnTo>
                  <a:lnTo>
                    <a:pt x="27051" y="734822"/>
                  </a:lnTo>
                  <a:lnTo>
                    <a:pt x="27178" y="733259"/>
                  </a:lnTo>
                  <a:lnTo>
                    <a:pt x="28384" y="716915"/>
                  </a:lnTo>
                  <a:close/>
                </a:path>
                <a:path w="2308860" h="1592579" fill="norm" stroke="1" extrusionOk="0">
                  <a:moveTo>
                    <a:pt x="28651" y="1021245"/>
                  </a:moveTo>
                  <a:lnTo>
                    <a:pt x="27292" y="1003338"/>
                  </a:lnTo>
                  <a:lnTo>
                    <a:pt x="26111" y="985443"/>
                  </a:lnTo>
                  <a:lnTo>
                    <a:pt x="25082" y="967536"/>
                  </a:lnTo>
                  <a:lnTo>
                    <a:pt x="24231" y="949642"/>
                  </a:lnTo>
                  <a:lnTo>
                    <a:pt x="1714" y="950607"/>
                  </a:lnTo>
                  <a:lnTo>
                    <a:pt x="2578" y="968717"/>
                  </a:lnTo>
                  <a:lnTo>
                    <a:pt x="3619" y="986828"/>
                  </a:lnTo>
                  <a:lnTo>
                    <a:pt x="4813" y="1004938"/>
                  </a:lnTo>
                  <a:lnTo>
                    <a:pt x="6197" y="1023048"/>
                  </a:lnTo>
                  <a:lnTo>
                    <a:pt x="28651" y="1021245"/>
                  </a:lnTo>
                  <a:close/>
                </a:path>
                <a:path w="2308860" h="1592579" fill="norm" stroke="1" extrusionOk="0">
                  <a:moveTo>
                    <a:pt x="40982" y="601306"/>
                  </a:moveTo>
                  <a:lnTo>
                    <a:pt x="13995" y="634111"/>
                  </a:lnTo>
                  <a:lnTo>
                    <a:pt x="9994" y="670013"/>
                  </a:lnTo>
                  <a:lnTo>
                    <a:pt x="32410" y="672299"/>
                  </a:lnTo>
                  <a:lnTo>
                    <a:pt x="34302" y="654558"/>
                  </a:lnTo>
                  <a:lnTo>
                    <a:pt x="36360" y="636803"/>
                  </a:lnTo>
                  <a:lnTo>
                    <a:pt x="38595" y="619061"/>
                  </a:lnTo>
                  <a:lnTo>
                    <a:pt x="40982" y="601306"/>
                  </a:lnTo>
                  <a:close/>
                </a:path>
                <a:path w="2308860" h="1592579" fill="norm" stroke="1" extrusionOk="0">
                  <a:moveTo>
                    <a:pt x="41452" y="1136827"/>
                  </a:moveTo>
                  <a:lnTo>
                    <a:pt x="39027" y="1119073"/>
                  </a:lnTo>
                  <a:lnTo>
                    <a:pt x="36779" y="1101331"/>
                  </a:lnTo>
                  <a:lnTo>
                    <a:pt x="34683" y="1083576"/>
                  </a:lnTo>
                  <a:lnTo>
                    <a:pt x="32766" y="1065834"/>
                  </a:lnTo>
                  <a:lnTo>
                    <a:pt x="10350" y="1068158"/>
                  </a:lnTo>
                  <a:lnTo>
                    <a:pt x="12293" y="1086116"/>
                  </a:lnTo>
                  <a:lnTo>
                    <a:pt x="14414" y="1104061"/>
                  </a:lnTo>
                  <a:lnTo>
                    <a:pt x="16687" y="1122019"/>
                  </a:lnTo>
                  <a:lnTo>
                    <a:pt x="19138" y="1139977"/>
                  </a:lnTo>
                  <a:lnTo>
                    <a:pt x="41452" y="1136827"/>
                  </a:lnTo>
                  <a:close/>
                </a:path>
                <a:path w="2308860" h="1592579" fill="norm" stroke="1" extrusionOk="0">
                  <a:moveTo>
                    <a:pt x="60439" y="486321"/>
                  </a:moveTo>
                  <a:lnTo>
                    <a:pt x="31559" y="517613"/>
                  </a:lnTo>
                  <a:lnTo>
                    <a:pt x="25425" y="553326"/>
                  </a:lnTo>
                  <a:lnTo>
                    <a:pt x="47663" y="556933"/>
                  </a:lnTo>
                  <a:lnTo>
                    <a:pt x="50622" y="539280"/>
                  </a:lnTo>
                  <a:lnTo>
                    <a:pt x="53733" y="521627"/>
                  </a:lnTo>
                  <a:lnTo>
                    <a:pt x="56997" y="503974"/>
                  </a:lnTo>
                  <a:lnTo>
                    <a:pt x="60439" y="486321"/>
                  </a:lnTo>
                  <a:close/>
                </a:path>
                <a:path w="2308860" h="1592579" fill="norm" stroke="1" extrusionOk="0">
                  <a:moveTo>
                    <a:pt x="61099" y="1251762"/>
                  </a:moveTo>
                  <a:lnTo>
                    <a:pt x="57632" y="1234122"/>
                  </a:lnTo>
                  <a:lnTo>
                    <a:pt x="54330" y="1216482"/>
                  </a:lnTo>
                  <a:lnTo>
                    <a:pt x="51193" y="1198841"/>
                  </a:lnTo>
                  <a:lnTo>
                    <a:pt x="48221" y="1181201"/>
                  </a:lnTo>
                  <a:lnTo>
                    <a:pt x="25984" y="1184846"/>
                  </a:lnTo>
                  <a:lnTo>
                    <a:pt x="28994" y="1202690"/>
                  </a:lnTo>
                  <a:lnTo>
                    <a:pt x="32169" y="1220533"/>
                  </a:lnTo>
                  <a:lnTo>
                    <a:pt x="35509" y="1238364"/>
                  </a:lnTo>
                  <a:lnTo>
                    <a:pt x="39014" y="1256207"/>
                  </a:lnTo>
                  <a:lnTo>
                    <a:pt x="61099" y="1251762"/>
                  </a:lnTo>
                  <a:close/>
                </a:path>
                <a:path w="2308860" h="1592579" fill="norm" stroke="1" extrusionOk="0">
                  <a:moveTo>
                    <a:pt x="86423" y="372859"/>
                  </a:moveTo>
                  <a:lnTo>
                    <a:pt x="55803" y="402501"/>
                  </a:lnTo>
                  <a:lnTo>
                    <a:pt x="47637" y="437794"/>
                  </a:lnTo>
                  <a:lnTo>
                    <a:pt x="69634" y="442683"/>
                  </a:lnTo>
                  <a:lnTo>
                    <a:pt x="73596" y="425221"/>
                  </a:lnTo>
                  <a:lnTo>
                    <a:pt x="77711" y="407771"/>
                  </a:lnTo>
                  <a:lnTo>
                    <a:pt x="81991" y="390309"/>
                  </a:lnTo>
                  <a:lnTo>
                    <a:pt x="86423" y="372859"/>
                  </a:lnTo>
                  <a:close/>
                </a:path>
                <a:path w="2308860" h="1592579" fill="norm" stroke="1" extrusionOk="0">
                  <a:moveTo>
                    <a:pt x="87287" y="1365224"/>
                  </a:moveTo>
                  <a:lnTo>
                    <a:pt x="82816" y="1347762"/>
                  </a:lnTo>
                  <a:lnTo>
                    <a:pt x="78511" y="1330312"/>
                  </a:lnTo>
                  <a:lnTo>
                    <a:pt x="74358" y="1312849"/>
                  </a:lnTo>
                  <a:lnTo>
                    <a:pt x="70370" y="1295400"/>
                  </a:lnTo>
                  <a:lnTo>
                    <a:pt x="48387" y="1300314"/>
                  </a:lnTo>
                  <a:lnTo>
                    <a:pt x="52412" y="1317967"/>
                  </a:lnTo>
                  <a:lnTo>
                    <a:pt x="56616" y="1335608"/>
                  </a:lnTo>
                  <a:lnTo>
                    <a:pt x="60960" y="1353261"/>
                  </a:lnTo>
                  <a:lnTo>
                    <a:pt x="65481" y="1370901"/>
                  </a:lnTo>
                  <a:lnTo>
                    <a:pt x="87287" y="1365224"/>
                  </a:lnTo>
                  <a:close/>
                </a:path>
                <a:path w="2308860" h="1592579" fill="norm" stroke="1" extrusionOk="0">
                  <a:moveTo>
                    <a:pt x="118605" y="261061"/>
                  </a:moveTo>
                  <a:lnTo>
                    <a:pt x="86512" y="288683"/>
                  </a:lnTo>
                  <a:lnTo>
                    <a:pt x="76517" y="323113"/>
                  </a:lnTo>
                  <a:lnTo>
                    <a:pt x="98209" y="329222"/>
                  </a:lnTo>
                  <a:lnTo>
                    <a:pt x="103073" y="312178"/>
                  </a:lnTo>
                  <a:lnTo>
                    <a:pt x="108102" y="295148"/>
                  </a:lnTo>
                  <a:lnTo>
                    <a:pt x="113271" y="278104"/>
                  </a:lnTo>
                  <a:lnTo>
                    <a:pt x="118605" y="261061"/>
                  </a:lnTo>
                  <a:close/>
                </a:path>
                <a:path w="2308860" h="1592579" fill="norm" stroke="1" extrusionOk="0">
                  <a:moveTo>
                    <a:pt x="119634" y="1476933"/>
                  </a:moveTo>
                  <a:lnTo>
                    <a:pt x="114274" y="1459903"/>
                  </a:lnTo>
                  <a:lnTo>
                    <a:pt x="109067" y="1442859"/>
                  </a:lnTo>
                  <a:lnTo>
                    <a:pt x="104025" y="1425816"/>
                  </a:lnTo>
                  <a:lnTo>
                    <a:pt x="99123" y="1408772"/>
                  </a:lnTo>
                  <a:lnTo>
                    <a:pt x="77444" y="1414919"/>
                  </a:lnTo>
                  <a:lnTo>
                    <a:pt x="82397" y="1432128"/>
                  </a:lnTo>
                  <a:lnTo>
                    <a:pt x="87490" y="1449349"/>
                  </a:lnTo>
                  <a:lnTo>
                    <a:pt x="92760" y="1466570"/>
                  </a:lnTo>
                  <a:lnTo>
                    <a:pt x="98171" y="1483779"/>
                  </a:lnTo>
                  <a:lnTo>
                    <a:pt x="119634" y="1476933"/>
                  </a:lnTo>
                  <a:close/>
                </a:path>
                <a:path w="2308860" h="1592579" fill="norm" stroke="1" extrusionOk="0">
                  <a:moveTo>
                    <a:pt x="156946" y="1584477"/>
                  </a:moveTo>
                  <a:lnTo>
                    <a:pt x="150926" y="1568246"/>
                  </a:lnTo>
                  <a:lnTo>
                    <a:pt x="145034" y="1552003"/>
                  </a:lnTo>
                  <a:lnTo>
                    <a:pt x="139293" y="1535772"/>
                  </a:lnTo>
                  <a:lnTo>
                    <a:pt x="133692" y="1519542"/>
                  </a:lnTo>
                  <a:lnTo>
                    <a:pt x="112369" y="1526819"/>
                  </a:lnTo>
                  <a:lnTo>
                    <a:pt x="118021" y="1543215"/>
                  </a:lnTo>
                  <a:lnTo>
                    <a:pt x="123825" y="1559598"/>
                  </a:lnTo>
                  <a:lnTo>
                    <a:pt x="129768" y="1575993"/>
                  </a:lnTo>
                  <a:lnTo>
                    <a:pt x="135839" y="1592389"/>
                  </a:lnTo>
                  <a:lnTo>
                    <a:pt x="156946" y="1584477"/>
                  </a:lnTo>
                  <a:close/>
                </a:path>
                <a:path w="2308860" h="1592579" fill="norm" stroke="1" extrusionOk="0">
                  <a:moveTo>
                    <a:pt x="219392" y="861314"/>
                  </a:moveTo>
                  <a:lnTo>
                    <a:pt x="214261" y="839368"/>
                  </a:lnTo>
                  <a:lnTo>
                    <a:pt x="143662" y="856449"/>
                  </a:lnTo>
                  <a:lnTo>
                    <a:pt x="149123" y="878306"/>
                  </a:lnTo>
                  <a:lnTo>
                    <a:pt x="219392" y="861314"/>
                  </a:lnTo>
                  <a:close/>
                </a:path>
                <a:path w="2308860" h="1592579" fill="norm" stroke="1" extrusionOk="0">
                  <a:moveTo>
                    <a:pt x="219392" y="140258"/>
                  </a:moveTo>
                  <a:lnTo>
                    <a:pt x="214261" y="118325"/>
                  </a:lnTo>
                  <a:lnTo>
                    <a:pt x="143662" y="135394"/>
                  </a:lnTo>
                  <a:lnTo>
                    <a:pt x="146380" y="146329"/>
                  </a:lnTo>
                  <a:lnTo>
                    <a:pt x="135839" y="142367"/>
                  </a:lnTo>
                  <a:lnTo>
                    <a:pt x="129463" y="159588"/>
                  </a:lnTo>
                  <a:lnTo>
                    <a:pt x="123240" y="176796"/>
                  </a:lnTo>
                  <a:lnTo>
                    <a:pt x="117170" y="194005"/>
                  </a:lnTo>
                  <a:lnTo>
                    <a:pt x="111252" y="211213"/>
                  </a:lnTo>
                  <a:lnTo>
                    <a:pt x="132588" y="218465"/>
                  </a:lnTo>
                  <a:lnTo>
                    <a:pt x="138442" y="201422"/>
                  </a:lnTo>
                  <a:lnTo>
                    <a:pt x="144462" y="184365"/>
                  </a:lnTo>
                  <a:lnTo>
                    <a:pt x="150622" y="167322"/>
                  </a:lnTo>
                  <a:lnTo>
                    <a:pt x="154863" y="155879"/>
                  </a:lnTo>
                  <a:lnTo>
                    <a:pt x="219392" y="140258"/>
                  </a:lnTo>
                  <a:close/>
                </a:path>
                <a:path w="2308860" h="1592579" fill="norm" stroke="1" extrusionOk="0">
                  <a:moveTo>
                    <a:pt x="333578" y="836142"/>
                  </a:moveTo>
                  <a:lnTo>
                    <a:pt x="329006" y="814070"/>
                  </a:lnTo>
                  <a:lnTo>
                    <a:pt x="258394" y="829284"/>
                  </a:lnTo>
                  <a:lnTo>
                    <a:pt x="263309" y="851268"/>
                  </a:lnTo>
                  <a:lnTo>
                    <a:pt x="333578" y="836142"/>
                  </a:lnTo>
                  <a:close/>
                </a:path>
                <a:path w="2308860" h="1592579" fill="norm" stroke="1" extrusionOk="0">
                  <a:moveTo>
                    <a:pt x="333578" y="115087"/>
                  </a:moveTo>
                  <a:lnTo>
                    <a:pt x="329006" y="93027"/>
                  </a:lnTo>
                  <a:lnTo>
                    <a:pt x="258394" y="108229"/>
                  </a:lnTo>
                  <a:lnTo>
                    <a:pt x="263309" y="130225"/>
                  </a:lnTo>
                  <a:lnTo>
                    <a:pt x="333578" y="115087"/>
                  </a:lnTo>
                  <a:close/>
                </a:path>
                <a:path w="2308860" h="1592579" fill="norm" stroke="1" extrusionOk="0">
                  <a:moveTo>
                    <a:pt x="448094" y="813917"/>
                  </a:moveTo>
                  <a:lnTo>
                    <a:pt x="444080" y="791756"/>
                  </a:lnTo>
                  <a:lnTo>
                    <a:pt x="373138" y="805154"/>
                  </a:lnTo>
                  <a:lnTo>
                    <a:pt x="377494" y="827265"/>
                  </a:lnTo>
                  <a:lnTo>
                    <a:pt x="448094" y="813917"/>
                  </a:lnTo>
                  <a:close/>
                </a:path>
                <a:path w="2308860" h="1592579" fill="norm" stroke="1" extrusionOk="0">
                  <a:moveTo>
                    <a:pt x="448094" y="92875"/>
                  </a:moveTo>
                  <a:lnTo>
                    <a:pt x="444080" y="70700"/>
                  </a:lnTo>
                  <a:lnTo>
                    <a:pt x="373138" y="84099"/>
                  </a:lnTo>
                  <a:lnTo>
                    <a:pt x="377494" y="106210"/>
                  </a:lnTo>
                  <a:lnTo>
                    <a:pt x="448094" y="92875"/>
                  </a:lnTo>
                  <a:close/>
                </a:path>
                <a:path w="2308860" h="1592579" fill="norm" stroke="1" extrusionOk="0">
                  <a:moveTo>
                    <a:pt x="563575" y="794600"/>
                  </a:moveTo>
                  <a:lnTo>
                    <a:pt x="560146" y="772325"/>
                  </a:lnTo>
                  <a:lnTo>
                    <a:pt x="488721" y="783907"/>
                  </a:lnTo>
                  <a:lnTo>
                    <a:pt x="492506" y="806119"/>
                  </a:lnTo>
                  <a:lnTo>
                    <a:pt x="563575" y="794600"/>
                  </a:lnTo>
                  <a:close/>
                </a:path>
                <a:path w="2308860" h="1592579" fill="norm" stroke="1" extrusionOk="0">
                  <a:moveTo>
                    <a:pt x="563575" y="73545"/>
                  </a:moveTo>
                  <a:lnTo>
                    <a:pt x="560146" y="51269"/>
                  </a:lnTo>
                  <a:lnTo>
                    <a:pt x="488721" y="62865"/>
                  </a:lnTo>
                  <a:lnTo>
                    <a:pt x="492506" y="85077"/>
                  </a:lnTo>
                  <a:lnTo>
                    <a:pt x="563575" y="73545"/>
                  </a:lnTo>
                  <a:close/>
                </a:path>
                <a:path w="2308860" h="1592579" fill="norm" stroke="1" extrusionOk="0">
                  <a:moveTo>
                    <a:pt x="679043" y="778370"/>
                  </a:moveTo>
                  <a:lnTo>
                    <a:pt x="676198" y="756005"/>
                  </a:lnTo>
                  <a:lnTo>
                    <a:pt x="604774" y="765683"/>
                  </a:lnTo>
                  <a:lnTo>
                    <a:pt x="607987" y="787984"/>
                  </a:lnTo>
                  <a:lnTo>
                    <a:pt x="679043" y="778370"/>
                  </a:lnTo>
                  <a:close/>
                </a:path>
                <a:path w="2308860" h="1592579" fill="norm" stroke="1" extrusionOk="0">
                  <a:moveTo>
                    <a:pt x="679043" y="57315"/>
                  </a:moveTo>
                  <a:lnTo>
                    <a:pt x="676198" y="34963"/>
                  </a:lnTo>
                  <a:lnTo>
                    <a:pt x="604774" y="44627"/>
                  </a:lnTo>
                  <a:lnTo>
                    <a:pt x="607987" y="66941"/>
                  </a:lnTo>
                  <a:lnTo>
                    <a:pt x="679043" y="57315"/>
                  </a:lnTo>
                  <a:close/>
                </a:path>
                <a:path w="2308860" h="1592579" fill="norm" stroke="1" extrusionOk="0">
                  <a:moveTo>
                    <a:pt x="795337" y="765136"/>
                  </a:moveTo>
                  <a:lnTo>
                    <a:pt x="793089" y="742721"/>
                  </a:lnTo>
                  <a:lnTo>
                    <a:pt x="721106" y="750531"/>
                  </a:lnTo>
                  <a:lnTo>
                    <a:pt x="723722" y="772909"/>
                  </a:lnTo>
                  <a:lnTo>
                    <a:pt x="795337" y="765136"/>
                  </a:lnTo>
                  <a:close/>
                </a:path>
                <a:path w="2308860" h="1592579" fill="norm" stroke="1" extrusionOk="0">
                  <a:moveTo>
                    <a:pt x="795337" y="44081"/>
                  </a:moveTo>
                  <a:lnTo>
                    <a:pt x="793089" y="21666"/>
                  </a:lnTo>
                  <a:lnTo>
                    <a:pt x="721106" y="29476"/>
                  </a:lnTo>
                  <a:lnTo>
                    <a:pt x="723722" y="51854"/>
                  </a:lnTo>
                  <a:lnTo>
                    <a:pt x="795337" y="44081"/>
                  </a:lnTo>
                  <a:close/>
                </a:path>
                <a:path w="2308860" h="1592579" fill="norm" stroke="1" extrusionOk="0">
                  <a:moveTo>
                    <a:pt x="911694" y="755040"/>
                  </a:moveTo>
                  <a:lnTo>
                    <a:pt x="910043" y="732574"/>
                  </a:lnTo>
                  <a:lnTo>
                    <a:pt x="838073" y="738441"/>
                  </a:lnTo>
                  <a:lnTo>
                    <a:pt x="840079" y="760882"/>
                  </a:lnTo>
                  <a:lnTo>
                    <a:pt x="911694" y="755040"/>
                  </a:lnTo>
                  <a:close/>
                </a:path>
                <a:path w="2308860" h="1592579" fill="norm" stroke="1" extrusionOk="0">
                  <a:moveTo>
                    <a:pt x="911694" y="33985"/>
                  </a:moveTo>
                  <a:lnTo>
                    <a:pt x="910043" y="11518"/>
                  </a:lnTo>
                  <a:lnTo>
                    <a:pt x="838073" y="17386"/>
                  </a:lnTo>
                  <a:lnTo>
                    <a:pt x="840079" y="39827"/>
                  </a:lnTo>
                  <a:lnTo>
                    <a:pt x="911694" y="33985"/>
                  </a:lnTo>
                  <a:close/>
                </a:path>
                <a:path w="2308860" h="1592579" fill="norm" stroke="1" extrusionOk="0">
                  <a:moveTo>
                    <a:pt x="1028319" y="748068"/>
                  </a:moveTo>
                  <a:lnTo>
                    <a:pt x="1027277" y="725563"/>
                  </a:lnTo>
                  <a:lnTo>
                    <a:pt x="955027" y="729500"/>
                  </a:lnTo>
                  <a:lnTo>
                    <a:pt x="956449" y="751992"/>
                  </a:lnTo>
                  <a:lnTo>
                    <a:pt x="1028319" y="748068"/>
                  </a:lnTo>
                  <a:close/>
                </a:path>
                <a:path w="2308860" h="1592579" fill="norm" stroke="1" extrusionOk="0">
                  <a:moveTo>
                    <a:pt x="1028319" y="27012"/>
                  </a:moveTo>
                  <a:lnTo>
                    <a:pt x="1027277" y="4508"/>
                  </a:lnTo>
                  <a:lnTo>
                    <a:pt x="955027" y="8445"/>
                  </a:lnTo>
                  <a:lnTo>
                    <a:pt x="956449" y="30937"/>
                  </a:lnTo>
                  <a:lnTo>
                    <a:pt x="1028319" y="27012"/>
                  </a:lnTo>
                  <a:close/>
                </a:path>
                <a:path w="2308860" h="1592579" fill="norm" stroke="1" extrusionOk="0">
                  <a:moveTo>
                    <a:pt x="1145133" y="744245"/>
                  </a:moveTo>
                  <a:lnTo>
                    <a:pt x="1144701" y="721715"/>
                  </a:lnTo>
                  <a:lnTo>
                    <a:pt x="1072438" y="723709"/>
                  </a:lnTo>
                  <a:lnTo>
                    <a:pt x="1073251" y="746226"/>
                  </a:lnTo>
                  <a:lnTo>
                    <a:pt x="1145133" y="744245"/>
                  </a:lnTo>
                  <a:close/>
                </a:path>
                <a:path w="2308860" h="1592579" fill="norm" stroke="1" extrusionOk="0">
                  <a:moveTo>
                    <a:pt x="1145133" y="23190"/>
                  </a:moveTo>
                  <a:lnTo>
                    <a:pt x="1144701" y="660"/>
                  </a:lnTo>
                  <a:lnTo>
                    <a:pt x="1072438" y="2654"/>
                  </a:lnTo>
                  <a:lnTo>
                    <a:pt x="1073251" y="25171"/>
                  </a:lnTo>
                  <a:lnTo>
                    <a:pt x="1145133" y="23190"/>
                  </a:lnTo>
                  <a:close/>
                </a:path>
                <a:path w="2308860" h="1592579" fill="norm" stroke="1" extrusionOk="0">
                  <a:moveTo>
                    <a:pt x="1262113" y="721055"/>
                  </a:moveTo>
                  <a:lnTo>
                    <a:pt x="1189863" y="721055"/>
                  </a:lnTo>
                  <a:lnTo>
                    <a:pt x="1190053" y="743585"/>
                  </a:lnTo>
                  <a:lnTo>
                    <a:pt x="1261935" y="743585"/>
                  </a:lnTo>
                  <a:lnTo>
                    <a:pt x="1262113" y="721055"/>
                  </a:lnTo>
                  <a:close/>
                </a:path>
                <a:path w="2308860" h="1592579" fill="norm" stroke="1" extrusionOk="0">
                  <a:moveTo>
                    <a:pt x="1262113" y="0"/>
                  </a:moveTo>
                  <a:lnTo>
                    <a:pt x="1189863" y="0"/>
                  </a:lnTo>
                  <a:lnTo>
                    <a:pt x="1190053" y="22529"/>
                  </a:lnTo>
                  <a:lnTo>
                    <a:pt x="1261935" y="22529"/>
                  </a:lnTo>
                  <a:lnTo>
                    <a:pt x="1262113" y="0"/>
                  </a:lnTo>
                  <a:close/>
                </a:path>
                <a:path w="2308860" h="1592579" fill="norm" stroke="1" extrusionOk="0">
                  <a:moveTo>
                    <a:pt x="1379537" y="723569"/>
                  </a:moveTo>
                  <a:lnTo>
                    <a:pt x="1307274" y="721639"/>
                  </a:lnTo>
                  <a:lnTo>
                    <a:pt x="1307236" y="723569"/>
                  </a:lnTo>
                  <a:lnTo>
                    <a:pt x="1306868" y="744169"/>
                  </a:lnTo>
                  <a:lnTo>
                    <a:pt x="1378750" y="746086"/>
                  </a:lnTo>
                  <a:lnTo>
                    <a:pt x="1378813" y="744169"/>
                  </a:lnTo>
                  <a:lnTo>
                    <a:pt x="1379537" y="723569"/>
                  </a:lnTo>
                  <a:close/>
                </a:path>
                <a:path w="2308860" h="1592579" fill="norm" stroke="1" extrusionOk="0">
                  <a:moveTo>
                    <a:pt x="1379537" y="2514"/>
                  </a:moveTo>
                  <a:lnTo>
                    <a:pt x="1307274" y="584"/>
                  </a:lnTo>
                  <a:lnTo>
                    <a:pt x="1307236" y="2514"/>
                  </a:lnTo>
                  <a:lnTo>
                    <a:pt x="1306868" y="23114"/>
                  </a:lnTo>
                  <a:lnTo>
                    <a:pt x="1378750" y="25031"/>
                  </a:lnTo>
                  <a:lnTo>
                    <a:pt x="1378813" y="23114"/>
                  </a:lnTo>
                  <a:lnTo>
                    <a:pt x="1379537" y="2514"/>
                  </a:lnTo>
                  <a:close/>
                </a:path>
                <a:path w="2308860" h="1592579" fill="norm" stroke="1" extrusionOk="0">
                  <a:moveTo>
                    <a:pt x="1496949" y="729259"/>
                  </a:moveTo>
                  <a:lnTo>
                    <a:pt x="1424698" y="725373"/>
                  </a:lnTo>
                  <a:lnTo>
                    <a:pt x="1424571" y="728179"/>
                  </a:lnTo>
                  <a:lnTo>
                    <a:pt x="1424520" y="729259"/>
                  </a:lnTo>
                  <a:lnTo>
                    <a:pt x="1423670" y="747890"/>
                  </a:lnTo>
                  <a:lnTo>
                    <a:pt x="1495552" y="751751"/>
                  </a:lnTo>
                  <a:lnTo>
                    <a:pt x="1495628" y="750671"/>
                  </a:lnTo>
                  <a:lnTo>
                    <a:pt x="1495691" y="749668"/>
                  </a:lnTo>
                  <a:lnTo>
                    <a:pt x="1495793" y="747890"/>
                  </a:lnTo>
                  <a:lnTo>
                    <a:pt x="1496949" y="729259"/>
                  </a:lnTo>
                  <a:close/>
                </a:path>
                <a:path w="2308860" h="1592579" fill="norm" stroke="1" extrusionOk="0">
                  <a:moveTo>
                    <a:pt x="1496949" y="8204"/>
                  </a:moveTo>
                  <a:lnTo>
                    <a:pt x="1424698" y="4330"/>
                  </a:lnTo>
                  <a:lnTo>
                    <a:pt x="1424571" y="7124"/>
                  </a:lnTo>
                  <a:lnTo>
                    <a:pt x="1424520" y="8204"/>
                  </a:lnTo>
                  <a:lnTo>
                    <a:pt x="1423670" y="26835"/>
                  </a:lnTo>
                  <a:lnTo>
                    <a:pt x="1495552" y="30695"/>
                  </a:lnTo>
                  <a:lnTo>
                    <a:pt x="1495628" y="29616"/>
                  </a:lnTo>
                  <a:lnTo>
                    <a:pt x="1495691" y="28613"/>
                  </a:lnTo>
                  <a:lnTo>
                    <a:pt x="1495793" y="26835"/>
                  </a:lnTo>
                  <a:lnTo>
                    <a:pt x="1496949" y="8204"/>
                  </a:lnTo>
                  <a:close/>
                </a:path>
                <a:path w="2308860" h="1592579" fill="norm" stroke="1" extrusionOk="0">
                  <a:moveTo>
                    <a:pt x="1613916" y="738085"/>
                  </a:moveTo>
                  <a:lnTo>
                    <a:pt x="1541945" y="732282"/>
                  </a:lnTo>
                  <a:lnTo>
                    <a:pt x="1541843" y="733615"/>
                  </a:lnTo>
                  <a:lnTo>
                    <a:pt x="1541741" y="735037"/>
                  </a:lnTo>
                  <a:lnTo>
                    <a:pt x="1541640" y="736523"/>
                  </a:lnTo>
                  <a:lnTo>
                    <a:pt x="1541526" y="738085"/>
                  </a:lnTo>
                  <a:lnTo>
                    <a:pt x="1540319" y="754748"/>
                  </a:lnTo>
                  <a:lnTo>
                    <a:pt x="1611922" y="760526"/>
                  </a:lnTo>
                  <a:lnTo>
                    <a:pt x="1613916" y="738085"/>
                  </a:lnTo>
                  <a:close/>
                </a:path>
                <a:path w="2308860" h="1592579" fill="norm" stroke="1" extrusionOk="0">
                  <a:moveTo>
                    <a:pt x="1613916" y="17030"/>
                  </a:moveTo>
                  <a:lnTo>
                    <a:pt x="1541945" y="11226"/>
                  </a:lnTo>
                  <a:lnTo>
                    <a:pt x="1541843" y="12573"/>
                  </a:lnTo>
                  <a:lnTo>
                    <a:pt x="1541741" y="13982"/>
                  </a:lnTo>
                  <a:lnTo>
                    <a:pt x="1541640" y="15468"/>
                  </a:lnTo>
                  <a:lnTo>
                    <a:pt x="1541526" y="17030"/>
                  </a:lnTo>
                  <a:lnTo>
                    <a:pt x="1540319" y="33705"/>
                  </a:lnTo>
                  <a:lnTo>
                    <a:pt x="1611922" y="39484"/>
                  </a:lnTo>
                  <a:lnTo>
                    <a:pt x="1613916" y="17030"/>
                  </a:lnTo>
                  <a:close/>
                </a:path>
                <a:path w="2308860" h="1592579" fill="norm" stroke="1" extrusionOk="0">
                  <a:moveTo>
                    <a:pt x="1730883" y="750074"/>
                  </a:moveTo>
                  <a:lnTo>
                    <a:pt x="1658912" y="742327"/>
                  </a:lnTo>
                  <a:lnTo>
                    <a:pt x="1656676" y="764743"/>
                  </a:lnTo>
                  <a:lnTo>
                    <a:pt x="1728279" y="772452"/>
                  </a:lnTo>
                  <a:lnTo>
                    <a:pt x="1730883" y="750074"/>
                  </a:lnTo>
                  <a:close/>
                </a:path>
                <a:path w="2308860" h="1592579" fill="norm" stroke="1" extrusionOk="0">
                  <a:moveTo>
                    <a:pt x="1730883" y="29019"/>
                  </a:moveTo>
                  <a:lnTo>
                    <a:pt x="1658912" y="21272"/>
                  </a:lnTo>
                  <a:lnTo>
                    <a:pt x="1656676" y="43688"/>
                  </a:lnTo>
                  <a:lnTo>
                    <a:pt x="1728279" y="51396"/>
                  </a:lnTo>
                  <a:lnTo>
                    <a:pt x="1730883" y="29019"/>
                  </a:lnTo>
                  <a:close/>
                </a:path>
                <a:path w="2308860" h="1592579" fill="norm" stroke="1" extrusionOk="0">
                  <a:moveTo>
                    <a:pt x="1847240" y="765124"/>
                  </a:moveTo>
                  <a:lnTo>
                    <a:pt x="1775815" y="755510"/>
                  </a:lnTo>
                  <a:lnTo>
                    <a:pt x="1772996" y="777875"/>
                  </a:lnTo>
                  <a:lnTo>
                    <a:pt x="1844052" y="787425"/>
                  </a:lnTo>
                  <a:lnTo>
                    <a:pt x="1847240" y="765124"/>
                  </a:lnTo>
                  <a:close/>
                </a:path>
                <a:path w="2308860" h="1592579" fill="norm" stroke="1" extrusionOk="0">
                  <a:moveTo>
                    <a:pt x="1847240" y="44069"/>
                  </a:moveTo>
                  <a:lnTo>
                    <a:pt x="1775815" y="34467"/>
                  </a:lnTo>
                  <a:lnTo>
                    <a:pt x="1772996" y="56819"/>
                  </a:lnTo>
                  <a:lnTo>
                    <a:pt x="1844052" y="66382"/>
                  </a:lnTo>
                  <a:lnTo>
                    <a:pt x="1847240" y="44069"/>
                  </a:lnTo>
                  <a:close/>
                </a:path>
                <a:path w="2308860" h="1592579" fill="norm" stroke="1" extrusionOk="0">
                  <a:moveTo>
                    <a:pt x="1963293" y="783247"/>
                  </a:moveTo>
                  <a:lnTo>
                    <a:pt x="1891880" y="771728"/>
                  </a:lnTo>
                  <a:lnTo>
                    <a:pt x="1888464" y="794004"/>
                  </a:lnTo>
                  <a:lnTo>
                    <a:pt x="1959533" y="805459"/>
                  </a:lnTo>
                  <a:lnTo>
                    <a:pt x="1963293" y="783247"/>
                  </a:lnTo>
                  <a:close/>
                </a:path>
                <a:path w="2308860" h="1592579" fill="norm" stroke="1" extrusionOk="0">
                  <a:moveTo>
                    <a:pt x="1963293" y="62191"/>
                  </a:moveTo>
                  <a:lnTo>
                    <a:pt x="1891880" y="50673"/>
                  </a:lnTo>
                  <a:lnTo>
                    <a:pt x="1888464" y="72948"/>
                  </a:lnTo>
                  <a:lnTo>
                    <a:pt x="1959533" y="84404"/>
                  </a:lnTo>
                  <a:lnTo>
                    <a:pt x="1963293" y="62191"/>
                  </a:lnTo>
                  <a:close/>
                </a:path>
                <a:path w="2308860" h="1592579" fill="norm" stroke="1" extrusionOk="0">
                  <a:moveTo>
                    <a:pt x="2078926" y="804392"/>
                  </a:moveTo>
                  <a:lnTo>
                    <a:pt x="2007933" y="791044"/>
                  </a:lnTo>
                  <a:lnTo>
                    <a:pt x="2003945" y="813219"/>
                  </a:lnTo>
                  <a:lnTo>
                    <a:pt x="2074583" y="826503"/>
                  </a:lnTo>
                  <a:lnTo>
                    <a:pt x="2078926" y="804392"/>
                  </a:lnTo>
                  <a:close/>
                </a:path>
                <a:path w="2308860" h="1592579" fill="norm" stroke="1" extrusionOk="0">
                  <a:moveTo>
                    <a:pt x="2078926" y="83337"/>
                  </a:moveTo>
                  <a:lnTo>
                    <a:pt x="2007933" y="69989"/>
                  </a:lnTo>
                  <a:lnTo>
                    <a:pt x="2003945" y="92163"/>
                  </a:lnTo>
                  <a:lnTo>
                    <a:pt x="2074583" y="105448"/>
                  </a:lnTo>
                  <a:lnTo>
                    <a:pt x="2078926" y="83337"/>
                  </a:lnTo>
                  <a:close/>
                </a:path>
                <a:path w="2308860" h="1592579" fill="norm" stroke="1" extrusionOk="0">
                  <a:moveTo>
                    <a:pt x="2193671" y="828421"/>
                  </a:moveTo>
                  <a:lnTo>
                    <a:pt x="2123059" y="813269"/>
                  </a:lnTo>
                  <a:lnTo>
                    <a:pt x="2118499" y="835342"/>
                  </a:lnTo>
                  <a:lnTo>
                    <a:pt x="2188768" y="850417"/>
                  </a:lnTo>
                  <a:lnTo>
                    <a:pt x="2193671" y="828421"/>
                  </a:lnTo>
                  <a:close/>
                </a:path>
                <a:path w="2308860" h="1592579" fill="norm" stroke="1" extrusionOk="0">
                  <a:moveTo>
                    <a:pt x="2193671" y="107365"/>
                  </a:moveTo>
                  <a:lnTo>
                    <a:pt x="2123059" y="92214"/>
                  </a:lnTo>
                  <a:lnTo>
                    <a:pt x="2118499" y="114287"/>
                  </a:lnTo>
                  <a:lnTo>
                    <a:pt x="2188768" y="129362"/>
                  </a:lnTo>
                  <a:lnTo>
                    <a:pt x="2193671" y="107365"/>
                  </a:lnTo>
                  <a:close/>
                </a:path>
                <a:path w="2308860" h="1592579" fill="norm" stroke="1" extrusionOk="0">
                  <a:moveTo>
                    <a:pt x="2308402" y="855484"/>
                  </a:moveTo>
                  <a:lnTo>
                    <a:pt x="2237803" y="838466"/>
                  </a:lnTo>
                  <a:lnTo>
                    <a:pt x="2232685" y="860412"/>
                  </a:lnTo>
                  <a:lnTo>
                    <a:pt x="2302954" y="877354"/>
                  </a:lnTo>
                  <a:lnTo>
                    <a:pt x="2308402" y="855484"/>
                  </a:lnTo>
                  <a:close/>
                </a:path>
                <a:path w="2308860" h="1592579" fill="norm" stroke="1" extrusionOk="0">
                  <a:moveTo>
                    <a:pt x="2308402" y="134429"/>
                  </a:moveTo>
                  <a:lnTo>
                    <a:pt x="2237803" y="117411"/>
                  </a:lnTo>
                  <a:lnTo>
                    <a:pt x="2232685" y="139357"/>
                  </a:lnTo>
                  <a:lnTo>
                    <a:pt x="2302954" y="156298"/>
                  </a:lnTo>
                  <a:lnTo>
                    <a:pt x="2308402" y="134429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3" name="object 2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2078415" y="1981311"/>
              <a:ext cx="144210" cy="14421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159995" y="1981311"/>
              <a:ext cx="144210" cy="14421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 rotWithShape="1">
            <a:blip r:embed="rId4"/>
            <a:stretch/>
          </p:blipFill>
          <p:spPr bwMode="auto">
            <a:xfrm>
              <a:off x="4241574" y="1981311"/>
              <a:ext cx="144210" cy="14421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 rotWithShape="1">
            <a:blip r:embed="rId5"/>
            <a:stretch/>
          </p:blipFill>
          <p:spPr bwMode="auto">
            <a:xfrm>
              <a:off x="2078415" y="2702364"/>
              <a:ext cx="144210" cy="14421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 rotWithShape="1">
            <a:blip r:embed="rId6"/>
            <a:stretch/>
          </p:blipFill>
          <p:spPr bwMode="auto">
            <a:xfrm>
              <a:off x="3159995" y="2702364"/>
              <a:ext cx="144210" cy="14421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 rotWithShape="1">
            <a:blip r:embed="rId6"/>
            <a:stretch/>
          </p:blipFill>
          <p:spPr bwMode="auto">
            <a:xfrm>
              <a:off x="4241574" y="2702364"/>
              <a:ext cx="144210" cy="14421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 rotWithShape="1">
            <a:blip r:embed="rId3"/>
            <a:stretch/>
          </p:blipFill>
          <p:spPr bwMode="auto">
            <a:xfrm>
              <a:off x="2078415" y="3423417"/>
              <a:ext cx="144210" cy="14421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159995" y="3423417"/>
              <a:ext cx="144210" cy="14421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 rotWithShape="1">
            <a:blip r:embed="rId4"/>
            <a:stretch/>
          </p:blipFill>
          <p:spPr bwMode="auto">
            <a:xfrm>
              <a:off x="4241574" y="3423417"/>
              <a:ext cx="144210" cy="144210"/>
            </a:xfrm>
            <a:prstGeom prst="rect">
              <a:avLst/>
            </a:prstGeom>
          </p:spPr>
        </p:pic>
      </p:grpSp>
      <p:sp>
        <p:nvSpPr>
          <p:cNvPr id="1007357396" name="object 32"/>
          <p:cNvSpPr txBox="1"/>
          <p:nvPr/>
        </p:nvSpPr>
        <p:spPr bwMode="auto">
          <a:xfrm>
            <a:off x="1350565" y="3838638"/>
            <a:ext cx="3769360" cy="465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1282700" algn="l"/>
                <a:tab pos="2470785" algn="l"/>
              </a:tabLst>
              <a:defRPr/>
            </a:pPr>
            <a:r>
              <a:rPr sz="1100" b="1">
                <a:solidFill>
                  <a:srgbClr val="2562EB"/>
                </a:solidFill>
                <a:latin typeface="Malgun Gothic"/>
                <a:cs typeface="Malgun Gothic"/>
              </a:rPr>
              <a:t>—</a:t>
            </a:r>
            <a:r>
              <a:rPr sz="1100" b="1" spc="-5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100" b="1">
                <a:solidFill>
                  <a:srgbClr val="2562EB"/>
                </a:solidFill>
                <a:latin typeface="Malgun Gothic"/>
                <a:cs typeface="Malgun Gothic"/>
              </a:rPr>
              <a:t>인장</a:t>
            </a:r>
            <a:r>
              <a:rPr sz="1100" b="1" spc="-5">
                <a:solidFill>
                  <a:srgbClr val="2562EB"/>
                </a:solidFill>
                <a:latin typeface="Malgun Gothic"/>
                <a:cs typeface="Malgun Gothic"/>
              </a:rPr>
              <a:t> </a:t>
            </a:r>
            <a:r>
              <a:rPr sz="1100" b="1" spc="-10">
                <a:solidFill>
                  <a:srgbClr val="2562EB"/>
                </a:solidFill>
                <a:latin typeface="Malgun Gothic"/>
                <a:cs typeface="Malgun Gothic"/>
              </a:rPr>
              <a:t>(Stretch)</a:t>
            </a:r>
            <a:r>
              <a:rPr sz="1100" b="1">
                <a:solidFill>
                  <a:srgbClr val="2562EB"/>
                </a:solidFill>
                <a:latin typeface="Malgun Gothic"/>
                <a:cs typeface="Malgun Gothic"/>
              </a:rPr>
              <a:t>	</a:t>
            </a:r>
            <a:r>
              <a:rPr sz="1100" b="1">
                <a:solidFill>
                  <a:srgbClr val="049569"/>
                </a:solidFill>
                <a:latin typeface="Malgun Gothic"/>
                <a:cs typeface="Malgun Gothic"/>
              </a:rPr>
              <a:t>—</a:t>
            </a:r>
            <a:r>
              <a:rPr sz="1100" b="1" spc="-5">
                <a:solidFill>
                  <a:srgbClr val="049569"/>
                </a:solidFill>
                <a:latin typeface="Malgun Gothic"/>
                <a:cs typeface="Malgun Gothic"/>
              </a:rPr>
              <a:t> </a:t>
            </a:r>
            <a:r>
              <a:rPr sz="1100" b="1">
                <a:solidFill>
                  <a:srgbClr val="049569"/>
                </a:solidFill>
                <a:latin typeface="Malgun Gothic"/>
                <a:cs typeface="Malgun Gothic"/>
              </a:rPr>
              <a:t>전단</a:t>
            </a:r>
            <a:r>
              <a:rPr sz="1100" b="1" spc="-5">
                <a:solidFill>
                  <a:srgbClr val="049569"/>
                </a:solidFill>
                <a:latin typeface="Malgun Gothic"/>
                <a:cs typeface="Malgun Gothic"/>
              </a:rPr>
              <a:t> </a:t>
            </a:r>
            <a:r>
              <a:rPr sz="1100" b="1" spc="-10">
                <a:solidFill>
                  <a:srgbClr val="049569"/>
                </a:solidFill>
                <a:latin typeface="Malgun Gothic"/>
                <a:cs typeface="Malgun Gothic"/>
              </a:rPr>
              <a:t>(Shear)</a:t>
            </a:r>
            <a:r>
              <a:rPr sz="1100" b="1">
                <a:solidFill>
                  <a:srgbClr val="049569"/>
                </a:solidFill>
                <a:latin typeface="Malgun Gothic"/>
                <a:cs typeface="Malgun Gothic"/>
              </a:rPr>
              <a:t>	</a:t>
            </a:r>
            <a:r>
              <a:rPr sz="1100" b="1">
                <a:solidFill>
                  <a:srgbClr val="D97705"/>
                </a:solidFill>
                <a:latin typeface="Malgun Gothic"/>
                <a:cs typeface="Malgun Gothic"/>
              </a:rPr>
              <a:t>--- 굽힘 </a:t>
            </a:r>
            <a:r>
              <a:rPr sz="1100" b="1" spc="-10">
                <a:solidFill>
                  <a:srgbClr val="D97705"/>
                </a:solidFill>
                <a:latin typeface="Malgun Gothic"/>
                <a:cs typeface="Malgun Gothic"/>
              </a:rPr>
              <a:t>(Bend)</a:t>
            </a:r>
            <a:endParaRPr sz="11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  <a:defRPr/>
            </a:pP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Müller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데모와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동일한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6개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거리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구속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패밀리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(인장</a:t>
            </a:r>
            <a:r>
              <a:rPr sz="950" spc="-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2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·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전단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2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·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>
                <a:solidFill>
                  <a:srgbClr val="6A7280"/>
                </a:solidFill>
                <a:latin typeface="Malgun Gothic"/>
                <a:cs typeface="Malgun Gothic"/>
              </a:rPr>
              <a:t>굽힘</a:t>
            </a:r>
            <a:r>
              <a:rPr sz="95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950" spc="-25">
                <a:solidFill>
                  <a:srgbClr val="6A7280"/>
                </a:solidFill>
                <a:latin typeface="Malgun Gothic"/>
                <a:cs typeface="Malgun Gothic"/>
              </a:rPr>
              <a:t>2)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668250116" name="object 33"/>
          <p:cNvSpPr/>
          <p:nvPr/>
        </p:nvSpPr>
        <p:spPr bwMode="auto">
          <a:xfrm>
            <a:off x="6057899" y="1095373"/>
            <a:ext cx="5353050" cy="5305425"/>
          </a:xfrm>
          <a:custGeom>
            <a:avLst/>
            <a:gdLst/>
            <a:ahLst/>
            <a:cxnLst/>
            <a:rect l="l" t="t" r="r" b="b"/>
            <a:pathLst>
              <a:path w="5353050" h="5305425" fill="norm" stroke="1" extrusionOk="0">
                <a:moveTo>
                  <a:pt x="5250525" y="5305419"/>
                </a:moveTo>
                <a:lnTo>
                  <a:pt x="102522" y="5305419"/>
                </a:lnTo>
                <a:lnTo>
                  <a:pt x="95387" y="5304717"/>
                </a:lnTo>
                <a:lnTo>
                  <a:pt x="54756" y="5290932"/>
                </a:lnTo>
                <a:lnTo>
                  <a:pt x="22495" y="5262645"/>
                </a:lnTo>
                <a:lnTo>
                  <a:pt x="3513" y="5224164"/>
                </a:lnTo>
                <a:lnTo>
                  <a:pt x="0" y="5202900"/>
                </a:lnTo>
                <a:lnTo>
                  <a:pt x="0" y="5195696"/>
                </a:lnTo>
                <a:lnTo>
                  <a:pt x="0" y="102524"/>
                </a:lnTo>
                <a:lnTo>
                  <a:pt x="11109" y="61075"/>
                </a:lnTo>
                <a:lnTo>
                  <a:pt x="37233" y="27035"/>
                </a:lnTo>
                <a:lnTo>
                  <a:pt x="74393" y="5590"/>
                </a:lnTo>
                <a:lnTo>
                  <a:pt x="102522" y="0"/>
                </a:lnTo>
                <a:lnTo>
                  <a:pt x="5250525" y="0"/>
                </a:lnTo>
                <a:lnTo>
                  <a:pt x="5291968" y="11106"/>
                </a:lnTo>
                <a:lnTo>
                  <a:pt x="5326003" y="37225"/>
                </a:lnTo>
                <a:lnTo>
                  <a:pt x="5347452" y="74386"/>
                </a:lnTo>
                <a:lnTo>
                  <a:pt x="5353049" y="102524"/>
                </a:lnTo>
                <a:lnTo>
                  <a:pt x="5353049" y="5202900"/>
                </a:lnTo>
                <a:lnTo>
                  <a:pt x="5341937" y="5244335"/>
                </a:lnTo>
                <a:lnTo>
                  <a:pt x="5315815" y="5278375"/>
                </a:lnTo>
                <a:lnTo>
                  <a:pt x="5278655" y="5299820"/>
                </a:lnTo>
                <a:lnTo>
                  <a:pt x="5257661" y="5304717"/>
                </a:lnTo>
                <a:lnTo>
                  <a:pt x="5250525" y="5305419"/>
                </a:lnTo>
                <a:close/>
              </a:path>
            </a:pathLst>
          </a:custGeom>
          <a:solidFill>
            <a:srgbClr val="F4F5FA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141101" name="object 34"/>
          <p:cNvSpPr txBox="1"/>
          <p:nvPr/>
        </p:nvSpPr>
        <p:spPr bwMode="auto">
          <a:xfrm>
            <a:off x="6265909" y="1276412"/>
            <a:ext cx="2776579" cy="226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솔버</a:t>
            </a:r>
            <a:r>
              <a:rPr sz="14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400" b="1">
                <a:solidFill>
                  <a:srgbClr val="1F242F"/>
                </a:solidFill>
                <a:latin typeface="Malgun Gothic"/>
                <a:cs typeface="Malgun Gothic"/>
              </a:rPr>
              <a:t>구성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95901461" name="object 35"/>
          <p:cNvGrpSpPr/>
          <p:nvPr/>
        </p:nvGrpSpPr>
        <p:grpSpPr bwMode="auto">
          <a:xfrm>
            <a:off x="6515099" y="1676397"/>
            <a:ext cx="2381250" cy="514350"/>
            <a:chOff x="6515099" y="1676397"/>
            <a:chExt cx="2381250" cy="514350"/>
          </a:xfrm>
        </p:grpSpPr>
        <p:sp>
          <p:nvSpPr>
            <p:cNvPr id="36" name="object 36"/>
            <p:cNvSpPr/>
            <p:nvPr/>
          </p:nvSpPr>
          <p:spPr bwMode="auto">
            <a:xfrm>
              <a:off x="6515099" y="1676397"/>
              <a:ext cx="2295525" cy="171450"/>
            </a:xfrm>
            <a:custGeom>
              <a:avLst/>
              <a:gdLst/>
              <a:ahLst/>
              <a:cxnLst/>
              <a:rect l="l" t="t" r="r" b="b"/>
              <a:pathLst>
                <a:path w="2295525" h="171450" fill="norm" stroke="1" extrusionOk="0">
                  <a:moveTo>
                    <a:pt x="2255867" y="171449"/>
                  </a:moveTo>
                  <a:lnTo>
                    <a:pt x="39657" y="171449"/>
                  </a:lnTo>
                  <a:lnTo>
                    <a:pt x="33825" y="170286"/>
                  </a:lnTo>
                  <a:lnTo>
                    <a:pt x="1159" y="137619"/>
                  </a:lnTo>
                  <a:lnTo>
                    <a:pt x="0" y="131791"/>
                  </a:lnTo>
                  <a:lnTo>
                    <a:pt x="0" y="125731"/>
                  </a:lnTo>
                  <a:lnTo>
                    <a:pt x="0" y="39653"/>
                  </a:lnTo>
                  <a:lnTo>
                    <a:pt x="22622" y="5795"/>
                  </a:lnTo>
                  <a:lnTo>
                    <a:pt x="39657" y="0"/>
                  </a:lnTo>
                  <a:lnTo>
                    <a:pt x="2255867" y="0"/>
                  </a:lnTo>
                  <a:lnTo>
                    <a:pt x="2289723" y="22617"/>
                  </a:lnTo>
                  <a:lnTo>
                    <a:pt x="2295524" y="39653"/>
                  </a:lnTo>
                  <a:lnTo>
                    <a:pt x="2295524" y="131791"/>
                  </a:lnTo>
                  <a:lnTo>
                    <a:pt x="2272901" y="165645"/>
                  </a:lnTo>
                  <a:lnTo>
                    <a:pt x="2261698" y="170286"/>
                  </a:lnTo>
                  <a:lnTo>
                    <a:pt x="2255867" y="171449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7" name="object 37"/>
            <p:cNvSpPr/>
            <p:nvPr/>
          </p:nvSpPr>
          <p:spPr bwMode="auto">
            <a:xfrm>
              <a:off x="6519861" y="1681160"/>
              <a:ext cx="2286000" cy="161925"/>
            </a:xfrm>
            <a:custGeom>
              <a:avLst/>
              <a:gdLst/>
              <a:ahLst/>
              <a:cxnLst/>
              <a:rect l="l" t="t" r="r" b="b"/>
              <a:pathLst>
                <a:path w="2286000" h="161925" fill="norm" stroke="1" extrusionOk="0">
                  <a:moveTo>
                    <a:pt x="0" y="120969"/>
                  </a:moveTo>
                  <a:lnTo>
                    <a:pt x="0" y="40955"/>
                  </a:lnTo>
                  <a:lnTo>
                    <a:pt x="0" y="35523"/>
                  </a:lnTo>
                  <a:lnTo>
                    <a:pt x="1039" y="30296"/>
                  </a:lnTo>
                  <a:lnTo>
                    <a:pt x="30301" y="1037"/>
                  </a:lnTo>
                  <a:lnTo>
                    <a:pt x="35526" y="0"/>
                  </a:lnTo>
                  <a:lnTo>
                    <a:pt x="40957" y="0"/>
                  </a:lnTo>
                  <a:lnTo>
                    <a:pt x="2245042" y="0"/>
                  </a:lnTo>
                  <a:lnTo>
                    <a:pt x="2250473" y="0"/>
                  </a:lnTo>
                  <a:lnTo>
                    <a:pt x="2255697" y="1037"/>
                  </a:lnTo>
                  <a:lnTo>
                    <a:pt x="2284959" y="30296"/>
                  </a:lnTo>
                  <a:lnTo>
                    <a:pt x="2286000" y="40955"/>
                  </a:lnTo>
                  <a:lnTo>
                    <a:pt x="2286000" y="120969"/>
                  </a:lnTo>
                  <a:lnTo>
                    <a:pt x="2285999" y="126396"/>
                  </a:lnTo>
                  <a:lnTo>
                    <a:pt x="2284959" y="131620"/>
                  </a:lnTo>
                  <a:lnTo>
                    <a:pt x="2282881" y="136638"/>
                  </a:lnTo>
                  <a:lnTo>
                    <a:pt x="2280803" y="141656"/>
                  </a:lnTo>
                  <a:lnTo>
                    <a:pt x="2245042" y="161924"/>
                  </a:lnTo>
                  <a:lnTo>
                    <a:pt x="40957" y="161924"/>
                  </a:lnTo>
                  <a:lnTo>
                    <a:pt x="5196" y="141656"/>
                  </a:lnTo>
                  <a:lnTo>
                    <a:pt x="3117" y="136638"/>
                  </a:lnTo>
                  <a:lnTo>
                    <a:pt x="1039" y="131620"/>
                  </a:lnTo>
                  <a:lnTo>
                    <a:pt x="0" y="126396"/>
                  </a:lnTo>
                  <a:lnTo>
                    <a:pt x="0" y="120969"/>
                  </a:lnTo>
                  <a:close/>
                </a:path>
              </a:pathLst>
            </a:custGeom>
            <a:grpFill/>
            <a:ln w="9524">
              <a:solidFill>
                <a:srgbClr val="D6DBE6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8" name="object 38"/>
            <p:cNvSpPr/>
            <p:nvPr/>
          </p:nvSpPr>
          <p:spPr bwMode="auto">
            <a:xfrm>
              <a:off x="6515099" y="2019298"/>
              <a:ext cx="2381250" cy="171450"/>
            </a:xfrm>
            <a:custGeom>
              <a:avLst/>
              <a:gdLst/>
              <a:ahLst/>
              <a:cxnLst/>
              <a:rect l="l" t="t" r="r" b="b"/>
              <a:pathLst>
                <a:path w="2381250" h="171450" fill="norm" stroke="1" extrusionOk="0">
                  <a:moveTo>
                    <a:pt x="2341592" y="171449"/>
                  </a:moveTo>
                  <a:lnTo>
                    <a:pt x="39657" y="171449"/>
                  </a:lnTo>
                  <a:lnTo>
                    <a:pt x="33825" y="170286"/>
                  </a:lnTo>
                  <a:lnTo>
                    <a:pt x="1159" y="137619"/>
                  </a:lnTo>
                  <a:lnTo>
                    <a:pt x="0" y="131791"/>
                  </a:lnTo>
                  <a:lnTo>
                    <a:pt x="0" y="125731"/>
                  </a:lnTo>
                  <a:lnTo>
                    <a:pt x="0" y="39653"/>
                  </a:lnTo>
                  <a:lnTo>
                    <a:pt x="22622" y="5795"/>
                  </a:lnTo>
                  <a:lnTo>
                    <a:pt x="39657" y="0"/>
                  </a:lnTo>
                  <a:lnTo>
                    <a:pt x="2341592" y="0"/>
                  </a:lnTo>
                  <a:lnTo>
                    <a:pt x="2375448" y="22617"/>
                  </a:lnTo>
                  <a:lnTo>
                    <a:pt x="2381249" y="39653"/>
                  </a:lnTo>
                  <a:lnTo>
                    <a:pt x="2381249" y="131791"/>
                  </a:lnTo>
                  <a:lnTo>
                    <a:pt x="2358627" y="165645"/>
                  </a:lnTo>
                  <a:lnTo>
                    <a:pt x="2347424" y="170286"/>
                  </a:lnTo>
                  <a:lnTo>
                    <a:pt x="2341592" y="171449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9" name="object 39"/>
            <p:cNvSpPr/>
            <p:nvPr/>
          </p:nvSpPr>
          <p:spPr bwMode="auto">
            <a:xfrm>
              <a:off x="6519861" y="2024060"/>
              <a:ext cx="2371725" cy="161925"/>
            </a:xfrm>
            <a:custGeom>
              <a:avLst/>
              <a:gdLst/>
              <a:ahLst/>
              <a:cxnLst/>
              <a:rect l="l" t="t" r="r" b="b"/>
              <a:pathLst>
                <a:path w="2371725" h="161925" fill="norm" stroke="1" extrusionOk="0">
                  <a:moveTo>
                    <a:pt x="0" y="120969"/>
                  </a:moveTo>
                  <a:lnTo>
                    <a:pt x="0" y="40955"/>
                  </a:lnTo>
                  <a:lnTo>
                    <a:pt x="0" y="35523"/>
                  </a:lnTo>
                  <a:lnTo>
                    <a:pt x="1039" y="30300"/>
                  </a:lnTo>
                  <a:lnTo>
                    <a:pt x="3117" y="25282"/>
                  </a:lnTo>
                  <a:lnTo>
                    <a:pt x="5196" y="20263"/>
                  </a:lnTo>
                  <a:lnTo>
                    <a:pt x="8155" y="15831"/>
                  </a:lnTo>
                  <a:lnTo>
                    <a:pt x="11996" y="11994"/>
                  </a:lnTo>
                  <a:lnTo>
                    <a:pt x="15836" y="8153"/>
                  </a:lnTo>
                  <a:lnTo>
                    <a:pt x="20265" y="5190"/>
                  </a:lnTo>
                  <a:lnTo>
                    <a:pt x="25283" y="3111"/>
                  </a:lnTo>
                  <a:lnTo>
                    <a:pt x="30301" y="1037"/>
                  </a:lnTo>
                  <a:lnTo>
                    <a:pt x="35526" y="0"/>
                  </a:lnTo>
                  <a:lnTo>
                    <a:pt x="40957" y="0"/>
                  </a:lnTo>
                  <a:lnTo>
                    <a:pt x="2330767" y="0"/>
                  </a:lnTo>
                  <a:lnTo>
                    <a:pt x="2336199" y="0"/>
                  </a:lnTo>
                  <a:lnTo>
                    <a:pt x="2341423" y="1037"/>
                  </a:lnTo>
                  <a:lnTo>
                    <a:pt x="2346440" y="3111"/>
                  </a:lnTo>
                  <a:lnTo>
                    <a:pt x="2351458" y="5190"/>
                  </a:lnTo>
                  <a:lnTo>
                    <a:pt x="2355887" y="8153"/>
                  </a:lnTo>
                  <a:lnTo>
                    <a:pt x="2359729" y="11994"/>
                  </a:lnTo>
                  <a:lnTo>
                    <a:pt x="2363568" y="15831"/>
                  </a:lnTo>
                  <a:lnTo>
                    <a:pt x="2366528" y="20259"/>
                  </a:lnTo>
                  <a:lnTo>
                    <a:pt x="2368606" y="25272"/>
                  </a:lnTo>
                  <a:lnTo>
                    <a:pt x="2370685" y="30296"/>
                  </a:lnTo>
                  <a:lnTo>
                    <a:pt x="2371725" y="35523"/>
                  </a:lnTo>
                  <a:lnTo>
                    <a:pt x="2371725" y="40955"/>
                  </a:lnTo>
                  <a:lnTo>
                    <a:pt x="2371725" y="120969"/>
                  </a:lnTo>
                  <a:lnTo>
                    <a:pt x="2371725" y="126396"/>
                  </a:lnTo>
                  <a:lnTo>
                    <a:pt x="2370685" y="131620"/>
                  </a:lnTo>
                  <a:lnTo>
                    <a:pt x="2368606" y="136638"/>
                  </a:lnTo>
                  <a:lnTo>
                    <a:pt x="2366528" y="141656"/>
                  </a:lnTo>
                  <a:lnTo>
                    <a:pt x="2330767" y="161924"/>
                  </a:lnTo>
                  <a:lnTo>
                    <a:pt x="40957" y="161924"/>
                  </a:lnTo>
                  <a:lnTo>
                    <a:pt x="5196" y="141656"/>
                  </a:lnTo>
                  <a:lnTo>
                    <a:pt x="3117" y="136638"/>
                  </a:lnTo>
                  <a:lnTo>
                    <a:pt x="1039" y="131620"/>
                  </a:lnTo>
                  <a:lnTo>
                    <a:pt x="0" y="126396"/>
                  </a:lnTo>
                  <a:lnTo>
                    <a:pt x="0" y="120969"/>
                  </a:lnTo>
                  <a:close/>
                </a:path>
              </a:pathLst>
            </a:custGeom>
            <a:grpFill/>
            <a:ln w="9524">
              <a:solidFill>
                <a:srgbClr val="D6DBE6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3465836" name="object 40"/>
          <p:cNvSpPr txBox="1"/>
          <p:nvPr/>
        </p:nvSpPr>
        <p:spPr bwMode="auto">
          <a:xfrm flipH="0" flipV="0">
            <a:off x="8855669" y="1644649"/>
            <a:ext cx="2293434" cy="53883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—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무차원 강성 k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pc="-25">
                <a:solidFill>
                  <a:srgbClr val="1F242F"/>
                </a:solidFill>
                <a:latin typeface="Malgun Gothic"/>
                <a:cs typeface="Malgun Gothic"/>
              </a:rPr>
              <a:t>방식</a:t>
            </a:r>
            <a:endParaRPr sz="1200">
              <a:latin typeface="Malgun Gothic"/>
              <a:cs typeface="Malgun Gothic"/>
            </a:endParaRPr>
          </a:p>
          <a:p>
            <a:pPr marL="92710">
              <a:lnSpc>
                <a:spcPct val="100000"/>
              </a:lnSpc>
              <a:spcBef>
                <a:spcPts val="1260"/>
              </a:spcBef>
              <a:defRPr/>
            </a:pP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—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컴플라이언스 α + λ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누적 </a:t>
            </a:r>
            <a:r>
              <a:rPr sz="1200" spc="-50">
                <a:solidFill>
                  <a:srgbClr val="1F242F"/>
                </a:solidFill>
                <a:latin typeface="Malgun Gothic"/>
                <a:cs typeface="Malgun Gothic"/>
              </a:rPr>
              <a:t>방</a:t>
            </a:r>
            <a:r>
              <a:rPr sz="1200">
                <a:latin typeface="Malgun Gothic"/>
                <a:cs typeface="Malgun Gothic"/>
              </a:rPr>
              <a:t>식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309499587" name="object 44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482317451" name="object 4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2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  <p:sp>
        <p:nvSpPr>
          <p:cNvPr id="764158755" name="object 42"/>
          <p:cNvSpPr txBox="1"/>
          <p:nvPr/>
        </p:nvSpPr>
        <p:spPr bwMode="auto">
          <a:xfrm>
            <a:off x="6265910" y="1642704"/>
            <a:ext cx="2578100" cy="553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14325" algn="l"/>
              </a:tabLst>
              <a:defRPr/>
            </a:pPr>
            <a:r>
              <a:rPr sz="1200" spc="-5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	</a:t>
            </a:r>
            <a:r>
              <a:rPr sz="1150" spc="-10">
                <a:solidFill>
                  <a:srgbClr val="B45309"/>
                </a:solidFill>
                <a:latin typeface="Trebuchet MS"/>
                <a:cs typeface="Trebuchet MS"/>
              </a:rPr>
              <a:t>PBDC</a:t>
            </a:r>
            <a:r>
              <a:rPr sz="1200" spc="-10">
                <a:solidFill>
                  <a:srgbClr val="B45309"/>
                </a:solidFill>
                <a:latin typeface="Trebuchet MS"/>
                <a:cs typeface="Trebuchet MS"/>
              </a:rPr>
              <a:t>loth</a:t>
            </a:r>
            <a:r>
              <a:rPr sz="1150" spc="-10">
                <a:solidFill>
                  <a:srgbClr val="B45309"/>
                </a:solidFill>
                <a:latin typeface="Trebuchet MS"/>
                <a:cs typeface="Trebuchet MS"/>
              </a:rPr>
              <a:t>S</a:t>
            </a:r>
            <a:r>
              <a:rPr sz="1200" spc="-10">
                <a:solidFill>
                  <a:srgbClr val="B45309"/>
                </a:solidFill>
                <a:latin typeface="Trebuchet MS"/>
                <a:cs typeface="Trebuchet MS"/>
              </a:rPr>
              <a:t>imul</a:t>
            </a:r>
            <a:r>
              <a:rPr sz="1150" spc="-10">
                <a:solidFill>
                  <a:srgbClr val="B45309"/>
                </a:solidFill>
                <a:latin typeface="Trebuchet MS"/>
                <a:cs typeface="Trebuchet MS"/>
              </a:rPr>
              <a:t>a</a:t>
            </a:r>
            <a:r>
              <a:rPr sz="1200" spc="-10">
                <a:solidFill>
                  <a:srgbClr val="B45309"/>
                </a:solidFill>
                <a:latin typeface="Trebuchet MS"/>
                <a:cs typeface="Trebuchet MS"/>
              </a:rPr>
              <a:t>tion</a:t>
            </a:r>
            <a:r>
              <a:rPr sz="1150" spc="-10">
                <a:solidFill>
                  <a:srgbClr val="B45309"/>
                </a:solidFill>
                <a:latin typeface="Trebuchet MS"/>
                <a:cs typeface="Trebuchet MS"/>
              </a:rPr>
              <a:t>C</a:t>
            </a:r>
            <a:r>
              <a:rPr sz="1200" spc="-10">
                <a:solidFill>
                  <a:srgbClr val="B45309"/>
                </a:solidFill>
                <a:latin typeface="Trebuchet MS"/>
                <a:cs typeface="Trebuchet MS"/>
              </a:rPr>
              <a:t>omponent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defRPr/>
            </a:pP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14325" algn="l"/>
              </a:tabLst>
              <a:defRPr/>
            </a:pPr>
            <a:r>
              <a:rPr sz="1200" spc="-5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	</a:t>
            </a:r>
            <a:r>
              <a:rPr sz="1150" spc="-10">
                <a:solidFill>
                  <a:srgbClr val="B45309"/>
                </a:solidFill>
                <a:latin typeface="Trebuchet MS"/>
                <a:cs typeface="Trebuchet MS"/>
              </a:rPr>
              <a:t>XPBDC</a:t>
            </a:r>
            <a:r>
              <a:rPr sz="1200" spc="-10">
                <a:solidFill>
                  <a:srgbClr val="B45309"/>
                </a:solidFill>
                <a:latin typeface="Trebuchet MS"/>
                <a:cs typeface="Trebuchet MS"/>
              </a:rPr>
              <a:t>loth</a:t>
            </a:r>
            <a:r>
              <a:rPr sz="1150" spc="-10">
                <a:solidFill>
                  <a:srgbClr val="B45309"/>
                </a:solidFill>
                <a:latin typeface="Trebuchet MS"/>
                <a:cs typeface="Trebuchet MS"/>
              </a:rPr>
              <a:t>S</a:t>
            </a:r>
            <a:r>
              <a:rPr sz="1200" spc="-10">
                <a:solidFill>
                  <a:srgbClr val="B45309"/>
                </a:solidFill>
                <a:latin typeface="Trebuchet MS"/>
                <a:cs typeface="Trebuchet MS"/>
              </a:rPr>
              <a:t>imul</a:t>
            </a:r>
            <a:r>
              <a:rPr sz="1150" spc="-10">
                <a:solidFill>
                  <a:srgbClr val="B45309"/>
                </a:solidFill>
                <a:latin typeface="Trebuchet MS"/>
                <a:cs typeface="Trebuchet MS"/>
              </a:rPr>
              <a:t>a</a:t>
            </a:r>
            <a:r>
              <a:rPr sz="1200" spc="-10">
                <a:solidFill>
                  <a:srgbClr val="B45309"/>
                </a:solidFill>
                <a:latin typeface="Trebuchet MS"/>
                <a:cs typeface="Trebuchet MS"/>
              </a:rPr>
              <a:t>tion</a:t>
            </a:r>
            <a:r>
              <a:rPr sz="1150" spc="-10">
                <a:solidFill>
                  <a:srgbClr val="B45309"/>
                </a:solidFill>
                <a:latin typeface="Trebuchet MS"/>
                <a:cs typeface="Trebuchet MS"/>
              </a:rPr>
              <a:t>C</a:t>
            </a:r>
            <a:r>
              <a:rPr sz="1200" spc="-10">
                <a:solidFill>
                  <a:srgbClr val="B45309"/>
                </a:solidFill>
                <a:latin typeface="Trebuchet MS"/>
                <a:cs typeface="Trebuchet MS"/>
              </a:rPr>
              <a:t>omponent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49811454" name="object 43"/>
          <p:cNvSpPr txBox="1"/>
          <p:nvPr/>
        </p:nvSpPr>
        <p:spPr bwMode="auto">
          <a:xfrm>
            <a:off x="6265910" y="2568575"/>
            <a:ext cx="4877435" cy="168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0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60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Hz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고정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시간증분,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substep</a:t>
            </a:r>
            <a:r>
              <a:rPr sz="12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10</a:t>
            </a:r>
            <a:r>
              <a:rPr sz="12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×</a:t>
            </a:r>
            <a:r>
              <a:rPr sz="12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iteration</a:t>
            </a:r>
            <a:r>
              <a:rPr sz="12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b="1" spc="-50">
                <a:solidFill>
                  <a:srgbClr val="1F242F"/>
                </a:solidFill>
                <a:latin typeface="Malgun Gothic"/>
                <a:cs typeface="Malgun Gothic"/>
              </a:rPr>
              <a:t>1</a:t>
            </a:r>
            <a:endParaRPr sz="1200">
              <a:latin typeface="Malgun Gothic"/>
              <a:cs typeface="Malgun Gothic"/>
            </a:endParaRPr>
          </a:p>
          <a:p>
            <a:pPr marL="487680" marR="294640" indent="-238125">
              <a:lnSpc>
                <a:spcPct val="135400"/>
              </a:lnSpc>
              <a:spcBef>
                <a:spcPts val="450"/>
              </a:spcBef>
              <a:tabLst>
                <a:tab pos="487680" algn="l"/>
              </a:tabLst>
              <a:defRPr/>
            </a:pPr>
            <a:r>
              <a:rPr sz="1200" spc="-50">
                <a:solidFill>
                  <a:srgbClr val="6A7280"/>
                </a:solidFill>
                <a:latin typeface="Malgun Gothic"/>
                <a:cs typeface="Malgun Gothic"/>
              </a:rPr>
              <a:t>–</a:t>
            </a:r>
            <a:r>
              <a:rPr sz="1200">
                <a:solidFill>
                  <a:srgbClr val="6A7280"/>
                </a:solidFill>
                <a:latin typeface="Malgun Gothic"/>
                <a:cs typeface="Malgun Gothic"/>
              </a:rPr>
              <a:t>	같은 연산량이면 반복↑ 보다 Δt↓ 가 수렴에 유리 — </a:t>
            </a:r>
            <a:r>
              <a:rPr sz="1200" spc="-10">
                <a:solidFill>
                  <a:srgbClr val="6A7280"/>
                </a:solidFill>
                <a:latin typeface="Malgun Gothic"/>
                <a:cs typeface="Malgun Gothic"/>
              </a:rPr>
              <a:t>"smal</a:t>
            </a:r>
            <a:r>
              <a:rPr sz="1200" spc="-10">
                <a:solidFill>
                  <a:srgbClr val="6A7280"/>
                </a:solidFill>
                <a:latin typeface="Malgun Gothic"/>
                <a:cs typeface="Malgun Gothic"/>
              </a:rPr>
              <a:t>l</a:t>
            </a:r>
            <a:r>
              <a:rPr sz="12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6A7280"/>
                </a:solidFill>
                <a:latin typeface="Malgun Gothic"/>
                <a:cs typeface="Malgun Gothic"/>
              </a:rPr>
              <a:t>steps"</a:t>
            </a:r>
            <a:r>
              <a:rPr sz="120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6A7280"/>
                </a:solidFill>
                <a:latin typeface="Malgun Gothic"/>
                <a:cs typeface="Malgun Gothic"/>
              </a:rPr>
              <a:t>접근</a:t>
            </a:r>
            <a:r>
              <a:rPr sz="120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6A7280"/>
                </a:solidFill>
                <a:latin typeface="Malgun Gothic"/>
                <a:cs typeface="Malgun Gothic"/>
              </a:rPr>
              <a:t>(Macklin</a:t>
            </a:r>
            <a:r>
              <a:rPr sz="1200" spc="-3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200" spc="-10">
                <a:solidFill>
                  <a:srgbClr val="6A7280"/>
                </a:solidFill>
                <a:latin typeface="Malgun Gothic"/>
                <a:cs typeface="Malgun Gothic"/>
              </a:rPr>
              <a:t>2019)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0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접촉: 평면·구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충돌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+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spatial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hash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기반</a:t>
            </a:r>
            <a:r>
              <a:rPr sz="12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 spc="-10">
                <a:solidFill>
                  <a:srgbClr val="1F242F"/>
                </a:solidFill>
                <a:latin typeface="Malgun Gothic"/>
                <a:cs typeface="Malgun Gothic"/>
              </a:rPr>
              <a:t>자기접촉(self-contact)</a:t>
            </a:r>
            <a:endParaRPr sz="1200">
              <a:latin typeface="Malgun Gothic"/>
              <a:cs typeface="Malgun Gothic"/>
            </a:endParaRPr>
          </a:p>
          <a:p>
            <a:pPr marL="250190" marR="5080" indent="-238125">
              <a:lnSpc>
                <a:spcPct val="135400"/>
              </a:lnSpc>
              <a:spcBef>
                <a:spcPts val="750"/>
              </a:spcBef>
              <a:defRPr/>
            </a:pPr>
            <a:r>
              <a:rPr sz="12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200" spc="165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런타임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UI에서 α, k, substep</a:t>
            </a:r>
            <a:r>
              <a:rPr sz="1200" spc="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200">
                <a:solidFill>
                  <a:srgbClr val="1F242F"/>
                </a:solidFill>
                <a:latin typeface="Malgun Gothic"/>
                <a:cs typeface="Malgun Gothic"/>
              </a:rPr>
              <a:t>등을 실시간 조정 →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두 솔버의 강성 </a:t>
            </a:r>
            <a:r>
              <a:rPr sz="1200" b="1" spc="-50">
                <a:solidFill>
                  <a:srgbClr val="1F242F"/>
                </a:solidFill>
                <a:latin typeface="Malgun Gothic"/>
                <a:cs typeface="Malgun Gothic"/>
              </a:rPr>
              <a:t>거 </a:t>
            </a:r>
            <a:r>
              <a:rPr sz="1200" b="1">
                <a:solidFill>
                  <a:srgbClr val="1F242F"/>
                </a:solidFill>
                <a:latin typeface="Malgun Gothic"/>
                <a:cs typeface="Malgun Gothic"/>
              </a:rPr>
              <a:t>동 차이를 바로 비교 </a:t>
            </a:r>
            <a:r>
              <a:rPr sz="1200" b="1" spc="-25">
                <a:solidFill>
                  <a:srgbClr val="1F242F"/>
                </a:solidFill>
                <a:latin typeface="Malgun Gothic"/>
                <a:cs typeface="Malgun Gothic"/>
              </a:rPr>
              <a:t>가능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969225" name="object 4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698605994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2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  <p:graphicFrame>
        <p:nvGraphicFramePr>
          <p:cNvPr id="1025189049" name="object 2"/>
          <p:cNvGraphicFramePr>
            <a:graphicFrameLocks xmlns:a="http://schemas.openxmlformats.org/drawingml/2006/main" noGrp="1"/>
          </p:cNvGraphicFramePr>
          <p:nvPr/>
        </p:nvGraphicFramePr>
        <p:xfrm rot="0">
          <a:off x="781049" y="453678"/>
          <a:ext cx="10706100" cy="258635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472565"/>
                <a:gridCol w="2503170"/>
                <a:gridCol w="3574415"/>
                <a:gridCol w="3041015"/>
              </a:tblGrid>
              <a:tr h="387985">
                <a:tc>
                  <a:txBody>
                    <a:bodyPr/>
                    <a:p>
                      <a:pPr marL="198120">
                        <a:lnSpc>
                          <a:spcPts val="2755"/>
                        </a:lnSpc>
                        <a:spcBef>
                          <a:spcPts val="200"/>
                        </a:spcBef>
                        <a:defRPr/>
                      </a:pPr>
                      <a:r>
                        <a:rPr sz="2300" b="1" spc="-25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정리</a:t>
                      </a:r>
                      <a:endParaRPr sz="230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76200" algn="ctr">
                      <a:solidFill>
                        <a:srgbClr val="2562EB"/>
                      </a:solidFill>
                    </a:lnL>
                  </a:tcPr>
                </a:tc>
                <a:tc gridSpan="3"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62928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07670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100" b="1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힘</a:t>
                      </a:r>
                      <a:r>
                        <a:rPr sz="1100" b="1" spc="-10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100" b="1" spc="-5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(음해법</a:t>
                      </a:r>
                      <a:r>
                        <a:rPr sz="1100" b="1" spc="-10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FEM</a:t>
                      </a:r>
                      <a:r>
                        <a:rPr sz="1100" b="1" spc="-5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 spc="-25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등)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38480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100" b="1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PBD</a:t>
                      </a:r>
                      <a:r>
                        <a:rPr sz="1100" b="1" spc="-15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 spc="-10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(2006)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12470">
                        <a:lnSpc>
                          <a:spcPct val="100000"/>
                        </a:lnSpc>
                        <a:spcBef>
                          <a:spcPts val="5"/>
                        </a:spcBef>
                        <a:defRPr/>
                      </a:pPr>
                      <a:r>
                        <a:rPr sz="1100" b="1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XPBD</a:t>
                      </a:r>
                      <a:r>
                        <a:rPr sz="1100" b="1" spc="-15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00" b="1" spc="-10">
                          <a:solidFill>
                            <a:srgbClr val="2562EB"/>
                          </a:solidFill>
                          <a:latin typeface="Malgun Gothic"/>
                          <a:cs typeface="Malgun Gothic"/>
                        </a:rPr>
                        <a:t>(2016)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B w="9525" algn="ctr">
                      <a:solidFill>
                        <a:srgbClr val="D6DBE6"/>
                      </a:solidFill>
                    </a:lnB>
                  </a:tcPr>
                </a:tc>
              </a:tr>
              <a:tr h="389890">
                <a:tc>
                  <a:txBody>
                    <a:bodyPr/>
                    <a:p>
                      <a:pPr marL="85725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 spc="-25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안정성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407670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조건부</a:t>
                      </a:r>
                      <a:r>
                        <a:rPr sz="1150" spc="-5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1150" spc="-5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무조건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538480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 spc="-2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무조건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712470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 spc="-2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무조건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</a:tr>
              <a:tr h="389890">
                <a:tc>
                  <a:txBody>
                    <a:bodyPr/>
                    <a:p>
                      <a:pPr marL="85725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강성</a:t>
                      </a:r>
                      <a:r>
                        <a:rPr sz="1150" spc="-5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0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파라미터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407670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재료</a:t>
                      </a:r>
                      <a:r>
                        <a:rPr sz="1150" spc="-1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물성</a:t>
                      </a:r>
                      <a:r>
                        <a:rPr sz="1150" spc="-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(E,</a:t>
                      </a:r>
                      <a:r>
                        <a:rPr sz="1150" spc="-1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k)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538480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>
                          <a:solidFill>
                            <a:srgbClr val="DB2525"/>
                          </a:solidFill>
                          <a:latin typeface="Malgun Gothic"/>
                          <a:cs typeface="Malgun Gothic"/>
                        </a:rPr>
                        <a:t>무차원</a:t>
                      </a:r>
                      <a:r>
                        <a:rPr sz="1150" spc="5">
                          <a:solidFill>
                            <a:srgbClr val="DB252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DB2525"/>
                          </a:solidFill>
                          <a:latin typeface="Malgun Gothic"/>
                          <a:cs typeface="Malgun Gothic"/>
                        </a:rPr>
                        <a:t>k,</a:t>
                      </a:r>
                      <a:r>
                        <a:rPr sz="1150" spc="5">
                          <a:solidFill>
                            <a:srgbClr val="DB252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DB2525"/>
                          </a:solidFill>
                          <a:latin typeface="Malgun Gothic"/>
                          <a:cs typeface="Malgun Gothic"/>
                        </a:rPr>
                        <a:t>반복수·Δt</a:t>
                      </a:r>
                      <a:r>
                        <a:rPr sz="1150" spc="5">
                          <a:solidFill>
                            <a:srgbClr val="DB252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DB2525"/>
                          </a:solidFill>
                          <a:latin typeface="Malgun Gothic"/>
                          <a:cs typeface="Malgun Gothic"/>
                        </a:rPr>
                        <a:t>종속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712470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컴플라이언스</a:t>
                      </a:r>
                      <a:r>
                        <a:rPr sz="1150" spc="-1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α</a:t>
                      </a:r>
                      <a:r>
                        <a:rPr sz="1150" spc="-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=</a:t>
                      </a:r>
                      <a:r>
                        <a:rPr sz="1150" spc="-1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1/k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</a:tr>
              <a:tr h="399415">
                <a:tc>
                  <a:txBody>
                    <a:bodyPr/>
                    <a:p>
                      <a:pPr marL="85725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구속</a:t>
                      </a:r>
                      <a:r>
                        <a:rPr sz="1150" spc="-5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반력</a:t>
                      </a:r>
                      <a:r>
                        <a:rPr sz="1150" spc="-5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회수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407670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 spc="-2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가능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538480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 spc="-25">
                          <a:solidFill>
                            <a:srgbClr val="DB2525"/>
                          </a:solidFill>
                          <a:latin typeface="Malgun Gothic"/>
                          <a:cs typeface="Malgun Gothic"/>
                        </a:rPr>
                        <a:t>불가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712470">
                        <a:lnSpc>
                          <a:spcPct val="100000"/>
                        </a:lnSpc>
                        <a:spcBef>
                          <a:spcPts val="910"/>
                        </a:spcBef>
                        <a:defRPr/>
                      </a:pP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λ</a:t>
                      </a:r>
                      <a:r>
                        <a:rPr sz="1150" spc="-1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sz="1150" spc="-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직접</a:t>
                      </a:r>
                      <a:r>
                        <a:rPr sz="1150" spc="-1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회수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15570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</a:tr>
              <a:tr h="389890">
                <a:tc>
                  <a:txBody>
                    <a:bodyPr/>
                    <a:p>
                      <a:pPr marL="85725">
                        <a:lnSpc>
                          <a:spcPct val="100000"/>
                        </a:lnSpc>
                        <a:spcBef>
                          <a:spcPts val="835"/>
                        </a:spcBef>
                        <a:defRPr/>
                      </a:pPr>
                      <a:r>
                        <a:rPr sz="1150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계산</a:t>
                      </a:r>
                      <a:r>
                        <a:rPr sz="1150" spc="-5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6A7280"/>
                          </a:solidFill>
                          <a:latin typeface="Malgun Gothic"/>
                          <a:cs typeface="Malgun Gothic"/>
                        </a:rPr>
                        <a:t>비용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06045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407670">
                        <a:lnSpc>
                          <a:spcPct val="100000"/>
                        </a:lnSpc>
                        <a:spcBef>
                          <a:spcPts val="835"/>
                        </a:spcBef>
                        <a:defRPr/>
                      </a:pPr>
                      <a:r>
                        <a:rPr sz="1150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전역</a:t>
                      </a:r>
                      <a:r>
                        <a:rPr sz="1150" spc="-5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접선강성</a:t>
                      </a:r>
                      <a:r>
                        <a:rPr sz="1150" spc="-5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1F242F"/>
                          </a:solidFill>
                          <a:latin typeface="Malgun Gothic"/>
                          <a:cs typeface="Malgun Gothic"/>
                        </a:rPr>
                        <a:t>선형계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06045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538480">
                        <a:lnSpc>
                          <a:spcPct val="100000"/>
                        </a:lnSpc>
                        <a:spcBef>
                          <a:spcPts val="835"/>
                        </a:spcBef>
                        <a:defRPr/>
                      </a:pP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구속당</a:t>
                      </a:r>
                      <a:r>
                        <a:rPr sz="1150" spc="-1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O(1)</a:t>
                      </a:r>
                      <a:r>
                        <a:rPr sz="1150" spc="-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국소</a:t>
                      </a:r>
                      <a:r>
                        <a:rPr sz="1150" spc="-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갱신,</a:t>
                      </a:r>
                      <a:r>
                        <a:rPr sz="1150" spc="-1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병렬화</a:t>
                      </a:r>
                      <a:r>
                        <a:rPr sz="1150" spc="-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용이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06045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  <a:tc>
                  <a:txBody>
                    <a:bodyPr/>
                    <a:p>
                      <a:pPr marL="712470">
                        <a:lnSpc>
                          <a:spcPct val="100000"/>
                        </a:lnSpc>
                        <a:spcBef>
                          <a:spcPts val="835"/>
                        </a:spcBef>
                        <a:defRPr/>
                      </a:pP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PBD와</a:t>
                      </a:r>
                      <a:r>
                        <a:rPr sz="1150" spc="-2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거의</a:t>
                      </a:r>
                      <a:r>
                        <a:rPr sz="1150" spc="-1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150" spc="-25">
                          <a:solidFill>
                            <a:srgbClr val="049569"/>
                          </a:solidFill>
                          <a:latin typeface="Malgun Gothic"/>
                          <a:cs typeface="Malgun Gothic"/>
                        </a:rPr>
                        <a:t>동일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T="106045" marB="0">
                    <a:lnT w="9525" algn="ctr">
                      <a:solidFill>
                        <a:srgbClr val="D6DBE6"/>
                      </a:solidFill>
                    </a:lnT>
                    <a:lnB w="9525" algn="ctr">
                      <a:solidFill>
                        <a:srgbClr val="D6DB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68215304" name="object 3"/>
          <p:cNvSpPr txBox="1"/>
          <p:nvPr/>
        </p:nvSpPr>
        <p:spPr bwMode="auto">
          <a:xfrm>
            <a:off x="764480" y="3270281"/>
            <a:ext cx="9684385" cy="1433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3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300" spc="490">
                <a:solidFill>
                  <a:srgbClr val="2562EB"/>
                </a:solidFill>
                <a:latin typeface="Cambria Math"/>
                <a:cs typeface="Cambria Math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PBD: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구속조건을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위치</a:t>
            </a:r>
            <a:r>
              <a:rPr sz="13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사영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으로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처리하는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무조건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안정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실시간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솔버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—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단,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강성이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수치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spc="-20">
                <a:solidFill>
                  <a:srgbClr val="1F242F"/>
                </a:solidFill>
                <a:latin typeface="Malgun Gothic"/>
                <a:cs typeface="Malgun Gothic"/>
              </a:rPr>
              <a:t>파라미터</a:t>
            </a:r>
            <a:endParaRPr sz="13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  <a:defRPr/>
            </a:pPr>
            <a:r>
              <a:rPr sz="13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300" spc="490">
                <a:solidFill>
                  <a:srgbClr val="2562EB"/>
                </a:solidFill>
                <a:latin typeface="Cambria Math"/>
                <a:cs typeface="Cambria Math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XPBD: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같은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코드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구조를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유지한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채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구속</a:t>
            </a:r>
            <a:r>
              <a:rPr sz="13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동역학(DAE)의</a:t>
            </a:r>
            <a:r>
              <a:rPr sz="13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후향</a:t>
            </a:r>
            <a:r>
              <a:rPr sz="13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Euler</a:t>
            </a:r>
            <a:r>
              <a:rPr sz="13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이산화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로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재유도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→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물리적으로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의미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있는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강성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+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구속</a:t>
            </a:r>
            <a:r>
              <a:rPr sz="1300" spc="-1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spc="-25">
                <a:solidFill>
                  <a:srgbClr val="1F242F"/>
                </a:solidFill>
                <a:latin typeface="Malgun Gothic"/>
                <a:cs typeface="Malgun Gothic"/>
              </a:rPr>
              <a:t>반력</a:t>
            </a:r>
            <a:endParaRPr sz="13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  <a:defRPr/>
            </a:pPr>
            <a:r>
              <a:rPr sz="1300"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z="1300" spc="495">
                <a:solidFill>
                  <a:srgbClr val="2562EB"/>
                </a:solidFill>
                <a:latin typeface="Cambria Math"/>
                <a:cs typeface="Cambria Math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정밀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FEM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해석의</a:t>
            </a:r>
            <a:r>
              <a:rPr sz="1300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대체제가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아니라,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실시간·상호작용</a:t>
            </a:r>
            <a:r>
              <a:rPr sz="13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시뮬레이션</a:t>
            </a:r>
            <a:r>
              <a:rPr sz="13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영역의</a:t>
            </a:r>
            <a:r>
              <a:rPr sz="1300" b="1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표준</a:t>
            </a:r>
            <a:r>
              <a:rPr sz="1300" b="1" spc="-10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b="1">
                <a:solidFill>
                  <a:srgbClr val="1F242F"/>
                </a:solidFill>
                <a:latin typeface="Malgun Gothic"/>
                <a:cs typeface="Malgun Gothic"/>
              </a:rPr>
              <a:t>기법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으로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1F242F"/>
                </a:solidFill>
                <a:latin typeface="Malgun Gothic"/>
                <a:cs typeface="Malgun Gothic"/>
              </a:rPr>
              <a:t>이해하면</a:t>
            </a:r>
            <a:r>
              <a:rPr sz="1300" spc="-5">
                <a:solidFill>
                  <a:srgbClr val="1F242F"/>
                </a:solidFill>
                <a:latin typeface="Malgun Gothic"/>
                <a:cs typeface="Malgun Gothic"/>
              </a:rPr>
              <a:t> </a:t>
            </a:r>
            <a:r>
              <a:rPr sz="1300" spc="-25">
                <a:solidFill>
                  <a:srgbClr val="1F242F"/>
                </a:solidFill>
                <a:latin typeface="Malgun Gothic"/>
                <a:cs typeface="Malgun Gothic"/>
              </a:rPr>
              <a:t>정확</a:t>
            </a:r>
            <a:endParaRPr sz="13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defRPr/>
            </a:pPr>
            <a:endParaRPr sz="13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defRPr/>
            </a:pP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(라이브</a:t>
            </a:r>
            <a:r>
              <a:rPr sz="130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데모:</a:t>
            </a:r>
            <a:r>
              <a:rPr sz="130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천</a:t>
            </a:r>
            <a:r>
              <a:rPr sz="13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잡아당기기,</a:t>
            </a:r>
            <a:r>
              <a:rPr sz="130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구</a:t>
            </a:r>
            <a:r>
              <a:rPr sz="13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발사,</a:t>
            </a:r>
            <a:r>
              <a:rPr sz="130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PBD</a:t>
            </a:r>
            <a:r>
              <a:rPr sz="13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↔</a:t>
            </a:r>
            <a:r>
              <a:rPr sz="130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XPBD</a:t>
            </a:r>
            <a:r>
              <a:rPr sz="1300" spc="-10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>
                <a:solidFill>
                  <a:srgbClr val="6A7280"/>
                </a:solidFill>
                <a:latin typeface="Malgun Gothic"/>
                <a:cs typeface="Malgun Gothic"/>
              </a:rPr>
              <a:t>솔버</a:t>
            </a:r>
            <a:r>
              <a:rPr sz="1300" spc="-15">
                <a:solidFill>
                  <a:srgbClr val="6A7280"/>
                </a:solidFill>
                <a:latin typeface="Malgun Gothic"/>
                <a:cs typeface="Malgun Gothic"/>
              </a:rPr>
              <a:t> </a:t>
            </a:r>
            <a:r>
              <a:rPr sz="1300" spc="-25">
                <a:solidFill>
                  <a:srgbClr val="6A7280"/>
                </a:solidFill>
                <a:latin typeface="Malgun Gothic"/>
                <a:cs typeface="Malgun Gothic"/>
              </a:rPr>
              <a:t>전환)</a:t>
            </a:r>
            <a:endParaRPr sz="1300">
              <a:latin typeface="Malgun Gothic"/>
              <a:cs typeface="Malgun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885153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References</a:t>
            </a:r>
            <a:endParaRPr/>
          </a:p>
        </p:txBody>
      </p:sp>
      <p:sp>
        <p:nvSpPr>
          <p:cNvPr id="1012184301" name="object 5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defRPr/>
            </a:pPr>
            <a:r>
              <a:rPr/>
              <a:t>Position</a:t>
            </a:r>
            <a:r>
              <a:rPr spc="-30"/>
              <a:t> </a:t>
            </a:r>
            <a:r>
              <a:rPr/>
              <a:t>Based</a:t>
            </a:r>
            <a:r>
              <a:rPr spc="-30"/>
              <a:t> </a:t>
            </a:r>
            <a:r>
              <a:rPr spc="-10"/>
              <a:t>Dynamics</a:t>
            </a:r>
            <a:endParaRPr/>
          </a:p>
        </p:txBody>
      </p:sp>
      <p:sp>
        <p:nvSpPr>
          <p:cNvPr id="201192716" name="object 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  <a:defRPr/>
            </a:pPr>
            <a:fld id="{81D60167-4931-47E6-BA6A-407CBD079E47}" type="slidenum">
              <a:rPr/>
              <a:t>2</a:t>
            </a:fld>
            <a:r>
              <a:rPr spc="-5"/>
              <a:t> </a:t>
            </a:r>
            <a:r>
              <a:rPr/>
              <a:t>/</a:t>
            </a:r>
            <a:r>
              <a:rPr spc="-5"/>
              <a:t> </a:t>
            </a:r>
            <a:r>
              <a:rPr spc="-50"/>
              <a:t>9</a:t>
            </a:r>
            <a:endParaRPr/>
          </a:p>
        </p:txBody>
      </p:sp>
      <p:sp>
        <p:nvSpPr>
          <p:cNvPr id="276477179" name="object 3"/>
          <p:cNvSpPr txBox="1"/>
          <p:nvPr/>
        </p:nvSpPr>
        <p:spPr bwMode="auto">
          <a:xfrm>
            <a:off x="764480" y="6169024"/>
            <a:ext cx="1393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>
                <a:solidFill>
                  <a:srgbClr val="6A7280"/>
                </a:solidFill>
                <a:latin typeface="Malgun Gothic"/>
                <a:cs typeface="Malgun Gothic"/>
              </a:rPr>
              <a:t>감사합니다 — </a:t>
            </a:r>
            <a:r>
              <a:rPr sz="1200" spc="-25">
                <a:solidFill>
                  <a:srgbClr val="6A7280"/>
                </a:solidFill>
                <a:latin typeface="Malgun Gothic"/>
                <a:cs typeface="Malgun Gothic"/>
              </a:rPr>
              <a:t>Q&amp;A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34449184" name="object 4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R="3932554" algn="ctr">
              <a:lnSpc>
                <a:spcPct val="100000"/>
              </a:lnSpc>
              <a:spcBef>
                <a:spcPts val="640"/>
              </a:spcBef>
              <a:defRPr/>
            </a:pPr>
            <a:r>
              <a:rPr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pc="445">
                <a:solidFill>
                  <a:srgbClr val="2562EB"/>
                </a:solidFill>
                <a:latin typeface="Cambria Math"/>
                <a:cs typeface="Cambria Math"/>
              </a:rPr>
              <a:t> </a:t>
            </a:r>
            <a:r>
              <a:rPr/>
              <a:t>M.</a:t>
            </a:r>
            <a:r>
              <a:rPr spc="-35"/>
              <a:t> </a:t>
            </a:r>
            <a:r>
              <a:rPr spc="-10"/>
              <a:t>Müller,</a:t>
            </a:r>
            <a:r>
              <a:rPr spc="-35"/>
              <a:t> </a:t>
            </a:r>
            <a:r>
              <a:rPr/>
              <a:t>B.</a:t>
            </a:r>
            <a:r>
              <a:rPr spc="-40"/>
              <a:t> </a:t>
            </a:r>
            <a:r>
              <a:rPr spc="-10"/>
              <a:t>Heidelberger,</a:t>
            </a:r>
            <a:r>
              <a:rPr spc="-35"/>
              <a:t> </a:t>
            </a:r>
            <a:r>
              <a:rPr/>
              <a:t>M.</a:t>
            </a:r>
            <a:r>
              <a:rPr spc="-35"/>
              <a:t> </a:t>
            </a:r>
            <a:r>
              <a:rPr/>
              <a:t>Hennix,</a:t>
            </a:r>
            <a:r>
              <a:rPr spc="-35"/>
              <a:t> </a:t>
            </a:r>
            <a:r>
              <a:rPr/>
              <a:t>J.</a:t>
            </a:r>
            <a:r>
              <a:rPr spc="-35"/>
              <a:t> </a:t>
            </a:r>
            <a:r>
              <a:rPr spc="-10"/>
              <a:t>Ratcliff,</a:t>
            </a:r>
            <a:endParaRPr/>
          </a:p>
          <a:p>
            <a:pPr marR="3992879" algn="ctr">
              <a:lnSpc>
                <a:spcPct val="100000"/>
              </a:lnSpc>
              <a:spcBef>
                <a:spcPts val="540"/>
              </a:spcBef>
              <a:defRPr/>
            </a:pPr>
            <a:r>
              <a:rPr b="1">
                <a:latin typeface="Malgun Gothic"/>
                <a:cs typeface="Malgun Gothic"/>
              </a:rPr>
              <a:t>"Position</a:t>
            </a:r>
            <a:r>
              <a:rPr b="1" spc="-40">
                <a:latin typeface="Malgun Gothic"/>
                <a:cs typeface="Malgun Gothic"/>
              </a:rPr>
              <a:t> </a:t>
            </a:r>
            <a:r>
              <a:rPr b="1">
                <a:latin typeface="Malgun Gothic"/>
                <a:cs typeface="Malgun Gothic"/>
              </a:rPr>
              <a:t>Based</a:t>
            </a:r>
            <a:r>
              <a:rPr b="1" spc="-40">
                <a:latin typeface="Malgun Gothic"/>
                <a:cs typeface="Malgun Gothic"/>
              </a:rPr>
              <a:t> </a:t>
            </a:r>
            <a:r>
              <a:rPr b="1">
                <a:latin typeface="Malgun Gothic"/>
                <a:cs typeface="Malgun Gothic"/>
              </a:rPr>
              <a:t>Dynamics"</a:t>
            </a:r>
            <a:r>
              <a:rPr/>
              <a:t>,</a:t>
            </a:r>
            <a:r>
              <a:rPr spc="-40"/>
              <a:t> </a:t>
            </a:r>
            <a:r>
              <a:rPr/>
              <a:t>VRIPhys</a:t>
            </a:r>
            <a:r>
              <a:rPr spc="-40"/>
              <a:t> </a:t>
            </a:r>
            <a:r>
              <a:rPr spc="-10"/>
              <a:t>2006.</a:t>
            </a:r>
            <a:endParaRPr/>
          </a:p>
          <a:p>
            <a:pPr marL="250190">
              <a:lnSpc>
                <a:spcPct val="100000"/>
              </a:lnSpc>
              <a:spcBef>
                <a:spcPts val="690"/>
              </a:spcBef>
              <a:defRPr/>
            </a:pP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matthias</a:t>
            </a:r>
            <a:r>
              <a:rPr sz="1100" spc="55">
                <a:solidFill>
                  <a:srgbClr val="6A7280"/>
                </a:solidFill>
                <a:latin typeface="Verdana"/>
                <a:cs typeface="Verdana"/>
              </a:rPr>
              <a:t>-</a:t>
            </a: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research</a:t>
            </a:r>
            <a:r>
              <a:rPr sz="1100" spc="55">
                <a:solidFill>
                  <a:srgbClr val="6A7280"/>
                </a:solidFill>
                <a:latin typeface="Verdana"/>
                <a:cs typeface="Verdana"/>
              </a:rPr>
              <a:t>.</a:t>
            </a: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github</a:t>
            </a:r>
            <a:r>
              <a:rPr sz="1100" spc="55">
                <a:solidFill>
                  <a:srgbClr val="6A7280"/>
                </a:solidFill>
                <a:latin typeface="Verdana"/>
                <a:cs typeface="Verdana"/>
              </a:rPr>
              <a:t>.</a:t>
            </a: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io</a:t>
            </a:r>
            <a:r>
              <a:rPr sz="1100" spc="55">
                <a:solidFill>
                  <a:srgbClr val="6A7280"/>
                </a:solidFill>
                <a:latin typeface="Verdana"/>
                <a:cs typeface="Verdana"/>
              </a:rPr>
              <a:t>/</a:t>
            </a: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pages</a:t>
            </a:r>
            <a:r>
              <a:rPr sz="1100" spc="55">
                <a:solidFill>
                  <a:srgbClr val="6A7280"/>
                </a:solidFill>
                <a:latin typeface="Verdana"/>
                <a:cs typeface="Verdana"/>
              </a:rPr>
              <a:t>/</a:t>
            </a: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publications</a:t>
            </a:r>
            <a:r>
              <a:rPr sz="1100" spc="55">
                <a:solidFill>
                  <a:srgbClr val="6A7280"/>
                </a:solidFill>
                <a:latin typeface="Verdana"/>
                <a:cs typeface="Verdana"/>
              </a:rPr>
              <a:t>/</a:t>
            </a: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posBasedDyn</a:t>
            </a:r>
            <a:r>
              <a:rPr sz="1100" spc="55">
                <a:solidFill>
                  <a:srgbClr val="6A7280"/>
                </a:solidFill>
                <a:latin typeface="Verdana"/>
                <a:cs typeface="Verdana"/>
              </a:rPr>
              <a:t>.</a:t>
            </a: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pdf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73"/>
              </a:spcBef>
              <a:defRPr/>
            </a:pP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pc="465">
                <a:solidFill>
                  <a:srgbClr val="2562EB"/>
                </a:solidFill>
                <a:latin typeface="Cambria Math"/>
                <a:cs typeface="Cambria Math"/>
              </a:rPr>
              <a:t> </a:t>
            </a:r>
            <a:r>
              <a:rPr/>
              <a:t>M.</a:t>
            </a:r>
            <a:r>
              <a:rPr spc="-25"/>
              <a:t> </a:t>
            </a:r>
            <a:r>
              <a:rPr/>
              <a:t>Macklin,</a:t>
            </a:r>
            <a:r>
              <a:rPr spc="-25"/>
              <a:t> </a:t>
            </a:r>
            <a:r>
              <a:rPr/>
              <a:t>M.</a:t>
            </a:r>
            <a:r>
              <a:rPr spc="-25"/>
              <a:t> </a:t>
            </a:r>
            <a:r>
              <a:rPr spc="-10"/>
              <a:t>Müller,</a:t>
            </a:r>
            <a:r>
              <a:rPr spc="-25"/>
              <a:t> </a:t>
            </a:r>
            <a:r>
              <a:rPr/>
              <a:t>N.</a:t>
            </a:r>
            <a:r>
              <a:rPr spc="-25"/>
              <a:t> </a:t>
            </a:r>
            <a:r>
              <a:rPr spc="-10"/>
              <a:t>Chentanez,</a:t>
            </a:r>
            <a:endParaRPr/>
          </a:p>
          <a:p>
            <a:pPr marL="250190">
              <a:lnSpc>
                <a:spcPct val="100000"/>
              </a:lnSpc>
              <a:spcBef>
                <a:spcPts val="540"/>
              </a:spcBef>
              <a:defRPr/>
            </a:pPr>
            <a:r>
              <a:rPr b="1">
                <a:latin typeface="Malgun Gothic"/>
                <a:cs typeface="Malgun Gothic"/>
              </a:rPr>
              <a:t>"XPBD:</a:t>
            </a:r>
            <a:r>
              <a:rPr b="1" spc="-30">
                <a:latin typeface="Malgun Gothic"/>
                <a:cs typeface="Malgun Gothic"/>
              </a:rPr>
              <a:t> </a:t>
            </a:r>
            <a:r>
              <a:rPr b="1" spc="-10">
                <a:latin typeface="Malgun Gothic"/>
                <a:cs typeface="Malgun Gothic"/>
              </a:rPr>
              <a:t>Position-</a:t>
            </a:r>
            <a:r>
              <a:rPr b="1">
                <a:latin typeface="Malgun Gothic"/>
                <a:cs typeface="Malgun Gothic"/>
              </a:rPr>
              <a:t>Based</a:t>
            </a:r>
            <a:r>
              <a:rPr b="1" spc="-25">
                <a:latin typeface="Malgun Gothic"/>
                <a:cs typeface="Malgun Gothic"/>
              </a:rPr>
              <a:t> </a:t>
            </a:r>
            <a:r>
              <a:rPr b="1">
                <a:latin typeface="Malgun Gothic"/>
                <a:cs typeface="Malgun Gothic"/>
              </a:rPr>
              <a:t>Simulation</a:t>
            </a:r>
            <a:r>
              <a:rPr b="1" spc="-25">
                <a:latin typeface="Malgun Gothic"/>
                <a:cs typeface="Malgun Gothic"/>
              </a:rPr>
              <a:t> </a:t>
            </a:r>
            <a:r>
              <a:rPr b="1">
                <a:latin typeface="Malgun Gothic"/>
                <a:cs typeface="Malgun Gothic"/>
              </a:rPr>
              <a:t>of</a:t>
            </a:r>
            <a:r>
              <a:rPr b="1" spc="-25">
                <a:latin typeface="Malgun Gothic"/>
                <a:cs typeface="Malgun Gothic"/>
              </a:rPr>
              <a:t> </a:t>
            </a:r>
            <a:r>
              <a:rPr b="1">
                <a:latin typeface="Malgun Gothic"/>
                <a:cs typeface="Malgun Gothic"/>
              </a:rPr>
              <a:t>Compliant</a:t>
            </a:r>
            <a:r>
              <a:rPr b="1" spc="-25">
                <a:latin typeface="Malgun Gothic"/>
                <a:cs typeface="Malgun Gothic"/>
              </a:rPr>
              <a:t> </a:t>
            </a:r>
            <a:r>
              <a:rPr b="1">
                <a:latin typeface="Malgun Gothic"/>
                <a:cs typeface="Malgun Gothic"/>
              </a:rPr>
              <a:t>Constrained</a:t>
            </a:r>
            <a:r>
              <a:rPr b="1" spc="-25">
                <a:latin typeface="Malgun Gothic"/>
                <a:cs typeface="Malgun Gothic"/>
              </a:rPr>
              <a:t> </a:t>
            </a:r>
            <a:r>
              <a:rPr b="1">
                <a:latin typeface="Malgun Gothic"/>
                <a:cs typeface="Malgun Gothic"/>
              </a:rPr>
              <a:t>Dynamics"</a:t>
            </a:r>
            <a:r>
              <a:rPr/>
              <a:t>,</a:t>
            </a:r>
            <a:r>
              <a:rPr spc="-25"/>
              <a:t> </a:t>
            </a:r>
            <a:r>
              <a:rPr/>
              <a:t>Motion</a:t>
            </a:r>
            <a:r>
              <a:rPr spc="-25"/>
              <a:t> </a:t>
            </a:r>
            <a:r>
              <a:rPr/>
              <a:t>in</a:t>
            </a:r>
            <a:r>
              <a:rPr spc="-25"/>
              <a:t> </a:t>
            </a:r>
            <a:r>
              <a:rPr/>
              <a:t>Games</a:t>
            </a:r>
            <a:r>
              <a:rPr spc="-25"/>
              <a:t> </a:t>
            </a:r>
            <a:r>
              <a:rPr spc="-10"/>
              <a:t>2016.</a:t>
            </a:r>
            <a:endParaRPr/>
          </a:p>
          <a:p>
            <a:pPr marL="250190">
              <a:lnSpc>
                <a:spcPct val="100000"/>
              </a:lnSpc>
              <a:spcBef>
                <a:spcPts val="690"/>
              </a:spcBef>
              <a:defRPr/>
            </a:pP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matthias</a:t>
            </a:r>
            <a:r>
              <a:rPr sz="1100" spc="55">
                <a:solidFill>
                  <a:srgbClr val="6A7280"/>
                </a:solidFill>
                <a:latin typeface="Verdana"/>
                <a:cs typeface="Verdana"/>
              </a:rPr>
              <a:t>-</a:t>
            </a:r>
            <a:r>
              <a:rPr sz="1150" spc="60">
                <a:solidFill>
                  <a:srgbClr val="6A7280"/>
                </a:solidFill>
                <a:latin typeface="Trebuchet MS"/>
                <a:cs typeface="Trebuchet MS"/>
              </a:rPr>
              <a:t>research</a:t>
            </a:r>
            <a:r>
              <a:rPr sz="1100" spc="60">
                <a:solidFill>
                  <a:srgbClr val="6A7280"/>
                </a:solidFill>
                <a:latin typeface="Verdana"/>
                <a:cs typeface="Verdana"/>
              </a:rPr>
              <a:t>.</a:t>
            </a:r>
            <a:r>
              <a:rPr sz="1150" spc="60">
                <a:solidFill>
                  <a:srgbClr val="6A7280"/>
                </a:solidFill>
                <a:latin typeface="Trebuchet MS"/>
                <a:cs typeface="Trebuchet MS"/>
              </a:rPr>
              <a:t>github</a:t>
            </a:r>
            <a:r>
              <a:rPr sz="1100" spc="60">
                <a:solidFill>
                  <a:srgbClr val="6A7280"/>
                </a:solidFill>
                <a:latin typeface="Verdana"/>
                <a:cs typeface="Verdana"/>
              </a:rPr>
              <a:t>.</a:t>
            </a:r>
            <a:r>
              <a:rPr sz="1150" spc="60">
                <a:solidFill>
                  <a:srgbClr val="6A7280"/>
                </a:solidFill>
                <a:latin typeface="Trebuchet MS"/>
                <a:cs typeface="Trebuchet MS"/>
              </a:rPr>
              <a:t>io</a:t>
            </a:r>
            <a:r>
              <a:rPr sz="1100" spc="60">
                <a:solidFill>
                  <a:srgbClr val="6A7280"/>
                </a:solidFill>
                <a:latin typeface="Verdana"/>
                <a:cs typeface="Verdana"/>
              </a:rPr>
              <a:t>/</a:t>
            </a:r>
            <a:r>
              <a:rPr sz="1150" spc="60">
                <a:solidFill>
                  <a:srgbClr val="6A7280"/>
                </a:solidFill>
                <a:latin typeface="Trebuchet MS"/>
                <a:cs typeface="Trebuchet MS"/>
              </a:rPr>
              <a:t>pages</a:t>
            </a:r>
            <a:r>
              <a:rPr sz="1100" spc="60">
                <a:solidFill>
                  <a:srgbClr val="6A7280"/>
                </a:solidFill>
                <a:latin typeface="Verdana"/>
                <a:cs typeface="Verdana"/>
              </a:rPr>
              <a:t>/</a:t>
            </a:r>
            <a:r>
              <a:rPr sz="1150" spc="60">
                <a:solidFill>
                  <a:srgbClr val="6A7280"/>
                </a:solidFill>
                <a:latin typeface="Trebuchet MS"/>
                <a:cs typeface="Trebuchet MS"/>
              </a:rPr>
              <a:t>publications</a:t>
            </a:r>
            <a:r>
              <a:rPr sz="1100" spc="60">
                <a:solidFill>
                  <a:srgbClr val="6A7280"/>
                </a:solidFill>
                <a:latin typeface="Verdana"/>
                <a:cs typeface="Verdana"/>
              </a:rPr>
              <a:t>/</a:t>
            </a:r>
            <a:r>
              <a:rPr sz="1150" spc="60">
                <a:solidFill>
                  <a:srgbClr val="6A7280"/>
                </a:solidFill>
                <a:latin typeface="Trebuchet MS"/>
                <a:cs typeface="Trebuchet MS"/>
              </a:rPr>
              <a:t>XPBD</a:t>
            </a:r>
            <a:r>
              <a:rPr sz="1100" spc="60">
                <a:solidFill>
                  <a:srgbClr val="6A7280"/>
                </a:solidFill>
                <a:latin typeface="Verdana"/>
                <a:cs typeface="Verdana"/>
              </a:rPr>
              <a:t>.</a:t>
            </a:r>
            <a:r>
              <a:rPr sz="1150" spc="60">
                <a:solidFill>
                  <a:srgbClr val="6A7280"/>
                </a:solidFill>
                <a:latin typeface="Trebuchet MS"/>
                <a:cs typeface="Trebuchet MS"/>
              </a:rPr>
              <a:t>pdf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73"/>
              </a:spcBef>
              <a:defRPr/>
            </a:pP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>
                <a:solidFill>
                  <a:srgbClr val="2562EB"/>
                </a:solidFill>
                <a:latin typeface="Cambria Math"/>
                <a:cs typeface="Cambria Math"/>
              </a:rPr>
              <a:t>▸</a:t>
            </a:r>
            <a:r>
              <a:rPr spc="250">
                <a:solidFill>
                  <a:srgbClr val="2562EB"/>
                </a:solidFill>
                <a:latin typeface="Cambria Math"/>
                <a:cs typeface="Cambria Math"/>
              </a:rPr>
              <a:t>  </a:t>
            </a:r>
            <a:r>
              <a:rPr/>
              <a:t>구현</a:t>
            </a:r>
            <a:r>
              <a:rPr spc="160"/>
              <a:t> </a:t>
            </a:r>
            <a:r>
              <a:rPr/>
              <a:t>코드:</a:t>
            </a:r>
            <a:r>
              <a:rPr spc="170"/>
              <a:t> </a:t>
            </a:r>
            <a:r>
              <a:rPr sz="1150">
                <a:solidFill>
                  <a:srgbClr val="6A7280"/>
                </a:solidFill>
                <a:latin typeface="Trebuchet MS"/>
                <a:cs typeface="Trebuchet MS"/>
              </a:rPr>
              <a:t>github</a:t>
            </a:r>
            <a:r>
              <a:rPr sz="1100">
                <a:solidFill>
                  <a:srgbClr val="6A7280"/>
                </a:solidFill>
                <a:latin typeface="Verdana"/>
                <a:cs typeface="Verdana"/>
              </a:rPr>
              <a:t>.</a:t>
            </a:r>
            <a:r>
              <a:rPr sz="1150">
                <a:solidFill>
                  <a:srgbClr val="6A7280"/>
                </a:solidFill>
                <a:latin typeface="Trebuchet MS"/>
                <a:cs typeface="Trebuchet MS"/>
              </a:rPr>
              <a:t>com</a:t>
            </a:r>
            <a:r>
              <a:rPr sz="1100">
                <a:solidFill>
                  <a:srgbClr val="6A7280"/>
                </a:solidFill>
                <a:latin typeface="Verdana"/>
                <a:cs typeface="Verdana"/>
              </a:rPr>
              <a:t>/</a:t>
            </a:r>
            <a:r>
              <a:rPr sz="1150">
                <a:solidFill>
                  <a:srgbClr val="6A7280"/>
                </a:solidFill>
                <a:latin typeface="Trebuchet MS"/>
                <a:cs typeface="Trebuchet MS"/>
              </a:rPr>
              <a:t>wkdgns</a:t>
            </a:r>
            <a:r>
              <a:rPr sz="1100">
                <a:solidFill>
                  <a:srgbClr val="6A7280"/>
                </a:solidFill>
                <a:latin typeface="Verdana"/>
                <a:cs typeface="Verdana"/>
              </a:rPr>
              <a:t>135/</a:t>
            </a:r>
            <a:r>
              <a:rPr sz="1150">
                <a:solidFill>
                  <a:srgbClr val="6A7280"/>
                </a:solidFill>
                <a:latin typeface="Trebuchet MS"/>
                <a:cs typeface="Trebuchet MS"/>
              </a:rPr>
              <a:t>Cloth</a:t>
            </a:r>
            <a:r>
              <a:rPr sz="1100">
                <a:solidFill>
                  <a:srgbClr val="6A7280"/>
                </a:solidFill>
                <a:latin typeface="Verdana"/>
                <a:cs typeface="Verdana"/>
              </a:rPr>
              <a:t>-</a:t>
            </a:r>
            <a:r>
              <a:rPr sz="1150" spc="55">
                <a:solidFill>
                  <a:srgbClr val="6A7280"/>
                </a:solidFill>
                <a:latin typeface="Trebuchet MS"/>
                <a:cs typeface="Trebuchet MS"/>
              </a:rPr>
              <a:t>Simulation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onlyoffice/9.3.1.10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Position Based Dynamics</dc:title>
  <cp:lastModifiedBy>안장훈</cp:lastModifiedBy>
  <cp:revision>3</cp:revision>
  <dcterms:created xsi:type="dcterms:W3CDTF">2026-07-07T00:27:19Z</dcterms:created>
  <dcterms:modified xsi:type="dcterms:W3CDTF">2026-07-07T02:36:14Z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2026-07-06T00:00:00Z</vt:filetime>
  </property>
  <property fmtid="{D5CDD505-2E9C-101B-9397-08002B2CF9AE}" pid="3" name="Creator">
    <vt:lpwstr>Chromium</vt:lpwstr>
  </property>
  <property fmtid="{D5CDD505-2E9C-101B-9397-08002B2CF9AE}" pid="4" name="LastSaved">
    <vt:filetime>2026-07-07T00:00:00Z</vt:filetime>
  </property>
  <property fmtid="{D5CDD505-2E9C-101B-9397-08002B2CF9AE}" pid="5" name="Producer">
    <vt:lpwstr>Skia/PDF m149</vt:lpwstr>
  </property>
</Properties>
</file>